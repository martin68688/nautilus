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512064"/>
            <a:ext cx="1508760" cy="320040"/>
          </a:xfrm>
          <a:prstGeom prst="roundRect">
            <a:avLst>
              <a:gd name="adj" fmla="val 48571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530352"/>
            <a:ext cx="1298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WP8 | FINAL EVIDENCE</a:t>
            </a:r>
            <a:endParaRPr lang="en-US" sz="1000" dirty="0"/>
          </a:p>
        </p:txBody>
      </p:sp>
      <p:pic>
        <p:nvPicPr>
          <p:cNvPr id="5" name="Image 0" descr="最终证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530352"/>
            <a:ext cx="1234440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113385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Admissibility</a:t>
            </a:r>
            <a:endParaRPr lang="en-US" sz="3100" dirty="0"/>
          </a:p>
        </p:txBody>
      </p:sp>
      <p:pic>
        <p:nvPicPr>
          <p:cNvPr id="7" name="Image 1" descr="决策准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61288"/>
            <a:ext cx="502920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" y="19933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C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Same-domain cross-task memory transfer</a:t>
            </a:r>
            <a:endParaRPr lang="en-US" sz="2000" dirty="0"/>
          </a:p>
        </p:txBody>
      </p:sp>
      <p:pic>
        <p:nvPicPr>
          <p:cNvPr id="9" name="Image 2" descr="同领域跨任务记忆迁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11680"/>
            <a:ext cx="5029200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792" y="27614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7C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closeout is complete. The formal performance headline is not supported.</a:t>
            </a:r>
            <a:endParaRPr lang="en-US" sz="1450" dirty="0"/>
          </a:p>
        </p:txBody>
      </p:sp>
      <p:pic>
        <p:nvPicPr>
          <p:cNvPr id="11" name="Image 3" descr="工程闭环已经完成；正式性能主张未获支持。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779776"/>
            <a:ext cx="5029200" cy="43891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21792" y="3913632"/>
            <a:ext cx="10927080" cy="1115568"/>
          </a:xfrm>
          <a:prstGeom prst="roundRect">
            <a:avLst>
              <a:gd name="adj" fmla="val 9836"/>
            </a:avLst>
          </a:prstGeom>
          <a:solidFill>
            <a:srgbClr val="173F5F"/>
          </a:solidFill>
          <a:ln w="12700">
            <a:solidFill>
              <a:srgbClr val="173F5F">
                <a:alpha val="0"/>
              </a:srgbClr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868680" y="4114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CE3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PLAN_APPROVED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3255264" y="401421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1400" dirty="0"/>
          </a:p>
        </p:txBody>
      </p:sp>
      <p:pic>
        <p:nvPicPr>
          <p:cNvPr id="15" name="Image 4" descr="工程完成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5264" y="4352544"/>
            <a:ext cx="1499616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28032" y="4087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C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2500" dirty="0"/>
          </a:p>
        </p:txBody>
      </p:sp>
      <p:sp>
        <p:nvSpPr>
          <p:cNvPr id="17" name="Text 10"/>
          <p:cNvSpPr/>
          <p:nvPr/>
        </p:nvSpPr>
        <p:spPr>
          <a:xfrm>
            <a:off x="5422392" y="4014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Superiority</a:t>
            </a:r>
            <a:endParaRPr lang="en-US" sz="1400" dirty="0"/>
          </a:p>
        </p:txBody>
      </p:sp>
      <p:pic>
        <p:nvPicPr>
          <p:cNvPr id="18" name="Image 5" descr="性能优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2392" y="4352544"/>
            <a:ext cx="1508760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059168" y="4087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C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2500" dirty="0"/>
          </a:p>
        </p:txBody>
      </p:sp>
      <p:sp>
        <p:nvSpPr>
          <p:cNvPr id="20" name="Text 12"/>
          <p:cNvSpPr/>
          <p:nvPr/>
        </p:nvSpPr>
        <p:spPr>
          <a:xfrm>
            <a:off x="7653528" y="4014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Causality</a:t>
            </a:r>
            <a:endParaRPr lang="en-US" sz="1400" dirty="0"/>
          </a:p>
        </p:txBody>
      </p:sp>
      <p:pic>
        <p:nvPicPr>
          <p:cNvPr id="21" name="Image 6" descr="经验因果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4352544"/>
            <a:ext cx="1508760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21792" y="59893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FAA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GLM-5.2[1m] independent read-only audit | 2026-07-24</a:t>
            </a:r>
            <a:endParaRPr lang="en-US" sz="1100" dirty="0"/>
          </a:p>
        </p:txBody>
      </p:sp>
      <p:pic>
        <p:nvPicPr>
          <p:cNvPr id="23" name="Image 7" descr="GLM-5.2[1m] 独立只读审查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6281928"/>
            <a:ext cx="384048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8366760" y="5989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headline: REJECTED</a:t>
            </a:r>
            <a:endParaRPr lang="en-US" sz="1100" dirty="0"/>
          </a:p>
        </p:txBody>
      </p:sp>
      <p:pic>
        <p:nvPicPr>
          <p:cNvPr id="25" name="Image 8" descr="正式结论：拒绝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6281928"/>
            <a:ext cx="315468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pic>
        <p:nvPicPr>
          <p:cNvPr id="3" name="Image 0" descr="架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37744"/>
            <a:ext cx="169164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30352"/>
            <a:ext cx="5413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governed unit is Claim × Operation</a:t>
            </a:r>
            <a:endParaRPr lang="en-US" sz="2300" dirty="0"/>
          </a:p>
        </p:txBody>
      </p:sp>
      <p:pic>
        <p:nvPicPr>
          <p:cNvPr id="5" name="Image 1" descr="治理单元是主张 × 操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30352"/>
            <a:ext cx="5559552" cy="475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352" y="987552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Relevance proposes candidates; Authority decides influence before ranking and Prompt construction.</a:t>
            </a:r>
            <a:endParaRPr lang="en-US" sz="1050" dirty="0"/>
          </a:p>
        </p:txBody>
      </p:sp>
      <p:pic>
        <p:nvPicPr>
          <p:cNvPr id="7" name="Image 2" descr="相关性只提出候选；权限机制在排序与 Prompt 构造前决定其能否产生影响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87552"/>
            <a:ext cx="5559552" cy="3017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30352" y="1344168"/>
            <a:ext cx="10607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40080" y="1737360"/>
            <a:ext cx="1627632" cy="1325880"/>
          </a:xfrm>
          <a:prstGeom prst="roundRect">
            <a:avLst>
              <a:gd name="adj" fmla="val 827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40080" y="1737360"/>
            <a:ext cx="1627632" cy="100584"/>
          </a:xfrm>
          <a:prstGeom prst="rect">
            <a:avLst/>
          </a:prstGeom>
          <a:solidFill>
            <a:srgbClr val="6941C6"/>
          </a:solidFill>
          <a:ln w="12700">
            <a:solidFill>
              <a:srgbClr val="6941C6">
                <a:alpha val="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49808" y="1901952"/>
            <a:ext cx="310896" cy="310896"/>
          </a:xfrm>
          <a:prstGeom prst="ellipse">
            <a:avLst/>
          </a:prstGeom>
          <a:solidFill>
            <a:srgbClr val="6941C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4672" y="218541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RunForest / SOP</a:t>
            </a:r>
            <a:endParaRPr lang="en-US" sz="1150" dirty="0"/>
          </a:p>
        </p:txBody>
      </p:sp>
      <p:pic>
        <p:nvPicPr>
          <p:cNvPr id="13" name="Image 3" descr="运行森林 / SO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450592"/>
            <a:ext cx="1298448" cy="2103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27066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and actionable methods</a:t>
            </a:r>
            <a:endParaRPr lang="en-US" sz="840" dirty="0"/>
          </a:p>
        </p:txBody>
      </p:sp>
      <p:sp>
        <p:nvSpPr>
          <p:cNvPr id="15" name="Shape 9"/>
          <p:cNvSpPr/>
          <p:nvPr/>
        </p:nvSpPr>
        <p:spPr>
          <a:xfrm>
            <a:off x="2295144" y="2395728"/>
            <a:ext cx="356616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16" name="Shape 10"/>
          <p:cNvSpPr/>
          <p:nvPr/>
        </p:nvSpPr>
        <p:spPr>
          <a:xfrm>
            <a:off x="2743200" y="1737360"/>
            <a:ext cx="1627632" cy="1325880"/>
          </a:xfrm>
          <a:prstGeom prst="roundRect">
            <a:avLst>
              <a:gd name="adj" fmla="val 827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2743200" y="1737360"/>
            <a:ext cx="1627632" cy="10058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2852928" y="1901952"/>
            <a:ext cx="310896" cy="310896"/>
          </a:xfrm>
          <a:prstGeom prst="ellipse">
            <a:avLst/>
          </a:prstGeom>
          <a:solidFill>
            <a:srgbClr val="2F6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907792" y="218541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Router</a:t>
            </a:r>
            <a:endParaRPr lang="en-US" sz="1150" dirty="0"/>
          </a:p>
        </p:txBody>
      </p:sp>
      <p:pic>
        <p:nvPicPr>
          <p:cNvPr id="20" name="Image 4" descr="阶段路由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792" y="2450592"/>
            <a:ext cx="1298448" cy="2103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907792" y="27066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/ Improve / Debug granularity</a:t>
            </a:r>
            <a:endParaRPr lang="en-US" sz="840" dirty="0"/>
          </a:p>
        </p:txBody>
      </p:sp>
      <p:sp>
        <p:nvSpPr>
          <p:cNvPr id="22" name="Shape 15"/>
          <p:cNvSpPr/>
          <p:nvPr/>
        </p:nvSpPr>
        <p:spPr>
          <a:xfrm>
            <a:off x="4398264" y="2395728"/>
            <a:ext cx="356616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4846320" y="1737360"/>
            <a:ext cx="1627632" cy="1325880"/>
          </a:xfrm>
          <a:prstGeom prst="roundRect">
            <a:avLst>
              <a:gd name="adj" fmla="val 8276"/>
            </a:avLst>
          </a:prstGeom>
          <a:solidFill>
            <a:srgbClr val="FFF4E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46320" y="1737360"/>
            <a:ext cx="1627632" cy="1005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956048" y="1901952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010912" y="218541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 Gate</a:t>
            </a:r>
            <a:endParaRPr lang="en-US" sz="1150" dirty="0"/>
          </a:p>
        </p:txBody>
      </p:sp>
      <p:pic>
        <p:nvPicPr>
          <p:cNvPr id="27" name="Image 5" descr="权限闸门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450592"/>
            <a:ext cx="1298448" cy="2103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10912" y="27066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| Operation | Protocol | Task</a:t>
            </a:r>
            <a:endParaRPr lang="en-US" sz="840" dirty="0"/>
          </a:p>
        </p:txBody>
      </p:sp>
      <p:sp>
        <p:nvSpPr>
          <p:cNvPr id="29" name="Shape 21"/>
          <p:cNvSpPr/>
          <p:nvPr/>
        </p:nvSpPr>
        <p:spPr>
          <a:xfrm>
            <a:off x="6501384" y="2395728"/>
            <a:ext cx="356616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6949440" y="1737360"/>
            <a:ext cx="1627632" cy="1325880"/>
          </a:xfrm>
          <a:prstGeom prst="roundRect">
            <a:avLst>
              <a:gd name="adj" fmla="val 827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949440" y="1737360"/>
            <a:ext cx="1627632" cy="100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059168" y="1901952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7114032" y="218541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Execution</a:t>
            </a:r>
            <a:endParaRPr lang="en-US" sz="1150" dirty="0"/>
          </a:p>
        </p:txBody>
      </p:sp>
      <p:pic>
        <p:nvPicPr>
          <p:cNvPr id="34" name="Image 6" descr="Agent 执行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2450592"/>
            <a:ext cx="1298448" cy="21031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114032" y="27066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and run target code</a:t>
            </a:r>
            <a:endParaRPr lang="en-US" sz="840" dirty="0"/>
          </a:p>
        </p:txBody>
      </p:sp>
      <p:sp>
        <p:nvSpPr>
          <p:cNvPr id="36" name="Shape 27"/>
          <p:cNvSpPr/>
          <p:nvPr/>
        </p:nvSpPr>
        <p:spPr>
          <a:xfrm>
            <a:off x="8604504" y="2395728"/>
            <a:ext cx="356616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37" name="Shape 28"/>
          <p:cNvSpPr/>
          <p:nvPr/>
        </p:nvSpPr>
        <p:spPr>
          <a:xfrm>
            <a:off x="9052560" y="1737360"/>
            <a:ext cx="1627632" cy="1325880"/>
          </a:xfrm>
          <a:prstGeom prst="roundRect">
            <a:avLst>
              <a:gd name="adj" fmla="val 827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9052560" y="1737360"/>
            <a:ext cx="1627632" cy="100584"/>
          </a:xfrm>
          <a:prstGeom prst="rect">
            <a:avLst/>
          </a:prstGeom>
          <a:solidFill>
            <a:srgbClr val="16855B"/>
          </a:solidFill>
          <a:ln w="12700">
            <a:solidFill>
              <a:srgbClr val="16855B">
                <a:alpha val="0"/>
              </a:srgbClr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9162288" y="1901952"/>
            <a:ext cx="310896" cy="310896"/>
          </a:xfrm>
          <a:prstGeom prst="ellipse">
            <a:avLst/>
          </a:prstGeom>
          <a:solidFill>
            <a:srgbClr val="1685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9217152" y="218541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Writeback</a:t>
            </a:r>
            <a:endParaRPr lang="en-US" sz="1150" dirty="0"/>
          </a:p>
        </p:txBody>
      </p:sp>
      <p:pic>
        <p:nvPicPr>
          <p:cNvPr id="41" name="Image 7" descr="类型化回写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152" y="2450592"/>
            <a:ext cx="1298448" cy="21031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17152" y="27066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/ Adoption / Causal</a:t>
            </a:r>
            <a:endParaRPr lang="en-US" sz="840" dirty="0"/>
          </a:p>
        </p:txBody>
      </p:sp>
      <p:sp>
        <p:nvSpPr>
          <p:cNvPr id="43" name="Shape 33"/>
          <p:cNvSpPr/>
          <p:nvPr/>
        </p:nvSpPr>
        <p:spPr>
          <a:xfrm>
            <a:off x="658368" y="3675888"/>
            <a:ext cx="10826496" cy="2194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896112" y="3858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objects must remain separate</a:t>
            </a:r>
            <a:endParaRPr lang="en-US" sz="1700" dirty="0"/>
          </a:p>
        </p:txBody>
      </p:sp>
      <p:pic>
        <p:nvPicPr>
          <p:cNvPr id="45" name="Image 8" descr="三个对象必须严格分离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0520" y="3858768"/>
            <a:ext cx="2560320" cy="310896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896112" y="4343400"/>
            <a:ext cx="2926080" cy="1170432"/>
          </a:xfrm>
          <a:prstGeom prst="roundRect">
            <a:avLst>
              <a:gd name="adj" fmla="val 7813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1042416" y="44348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Fact</a:t>
            </a:r>
            <a:endParaRPr lang="en-US" sz="1350" dirty="0"/>
          </a:p>
        </p:txBody>
      </p:sp>
      <p:pic>
        <p:nvPicPr>
          <p:cNvPr id="48" name="Image 9" descr="结果事实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4016" y="4434840"/>
            <a:ext cx="1261872" cy="256032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1042416" y="47457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node's executed code and legal evaluation</a:t>
            </a:r>
            <a:endParaRPr lang="en-US" sz="960" dirty="0"/>
          </a:p>
        </p:txBody>
      </p:sp>
      <p:sp>
        <p:nvSpPr>
          <p:cNvPr id="50" name="Text 38"/>
          <p:cNvSpPr/>
          <p:nvPr/>
        </p:nvSpPr>
        <p:spPr>
          <a:xfrm>
            <a:off x="1042416" y="513892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historical actuation required</a:t>
            </a:r>
            <a:endParaRPr lang="en-US" sz="880" dirty="0"/>
          </a:p>
        </p:txBody>
      </p:sp>
      <p:sp>
        <p:nvSpPr>
          <p:cNvPr id="51" name="Shape 39"/>
          <p:cNvSpPr/>
          <p:nvPr/>
        </p:nvSpPr>
        <p:spPr>
          <a:xfrm>
            <a:off x="4160520" y="4343400"/>
            <a:ext cx="2926080" cy="1170432"/>
          </a:xfrm>
          <a:prstGeom prst="roundRect">
            <a:avLst>
              <a:gd name="adj" fmla="val 7813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52" name="Text 40"/>
          <p:cNvSpPr/>
          <p:nvPr/>
        </p:nvSpPr>
        <p:spPr>
          <a:xfrm>
            <a:off x="4306824" y="44348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Edge</a:t>
            </a:r>
            <a:endParaRPr lang="en-US" sz="1350" dirty="0"/>
          </a:p>
        </p:txBody>
      </p:sp>
      <p:pic>
        <p:nvPicPr>
          <p:cNvPr id="53" name="Image 10" descr="采纳边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8424" y="4434840"/>
            <a:ext cx="1261872" cy="256032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4306824" y="47457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experience appears in code and runtime</a:t>
            </a:r>
            <a:endParaRPr lang="en-US" sz="960" dirty="0"/>
          </a:p>
        </p:txBody>
      </p:sp>
      <p:sp>
        <p:nvSpPr>
          <p:cNvPr id="55" name="Text 42"/>
          <p:cNvSpPr/>
          <p:nvPr/>
        </p:nvSpPr>
        <p:spPr>
          <a:xfrm>
            <a:off x="4306824" y="513892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+ Runtime required (L2/L3)</a:t>
            </a:r>
            <a:endParaRPr lang="en-US" sz="880" dirty="0"/>
          </a:p>
        </p:txBody>
      </p:sp>
      <p:sp>
        <p:nvSpPr>
          <p:cNvPr id="56" name="Shape 43"/>
          <p:cNvSpPr/>
          <p:nvPr/>
        </p:nvSpPr>
        <p:spPr>
          <a:xfrm>
            <a:off x="7424928" y="4343400"/>
            <a:ext cx="2926080" cy="1170432"/>
          </a:xfrm>
          <a:prstGeom prst="roundRect">
            <a:avLst>
              <a:gd name="adj" fmla="val 7813"/>
            </a:avLst>
          </a:prstGeom>
          <a:solidFill>
            <a:srgbClr val="F1ECFF"/>
          </a:solidFill>
          <a:ln w="1270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57" name="Text 44"/>
          <p:cNvSpPr/>
          <p:nvPr/>
        </p:nvSpPr>
        <p:spPr>
          <a:xfrm>
            <a:off x="7571232" y="44348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Edge</a:t>
            </a:r>
            <a:endParaRPr lang="en-US" sz="1350" dirty="0"/>
          </a:p>
        </p:txBody>
      </p:sp>
      <p:pic>
        <p:nvPicPr>
          <p:cNvPr id="58" name="Image 11" descr="因果边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42832" y="4434840"/>
            <a:ext cx="1261872" cy="256032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7571232" y="47457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Removing memory changes action or code</a:t>
            </a:r>
            <a:endParaRPr lang="en-US" sz="960" dirty="0"/>
          </a:p>
        </p:txBody>
      </p:sp>
      <p:sp>
        <p:nvSpPr>
          <p:cNvPr id="60" name="Text 46"/>
          <p:cNvSpPr/>
          <p:nvPr/>
        </p:nvSpPr>
        <p:spPr>
          <a:xfrm>
            <a:off x="7571232" y="513892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Counterfactual also required (L4)</a:t>
            </a:r>
            <a:endParaRPr lang="en-US" sz="880" dirty="0"/>
          </a:p>
        </p:txBody>
      </p:sp>
      <p:sp>
        <p:nvSpPr>
          <p:cNvPr id="61" name="Shape 47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Admissibility | WP8 final evidence | 2026-07-24</a:t>
            </a:r>
            <a:endParaRPr lang="en-US" sz="850" dirty="0"/>
          </a:p>
        </p:txBody>
      </p:sp>
      <p:sp>
        <p:nvSpPr>
          <p:cNvPr id="63" name="Text 49"/>
          <p:cNvSpPr/>
          <p:nvPr/>
        </p:nvSpPr>
        <p:spPr>
          <a:xfrm>
            <a:off x="1110996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DESIGN</a:t>
            </a:r>
            <a:endParaRPr lang="en-US" sz="1000" dirty="0"/>
          </a:p>
        </p:txBody>
      </p:sp>
      <p:pic>
        <p:nvPicPr>
          <p:cNvPr id="3" name="Image 0" descr="正式设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37744"/>
            <a:ext cx="169164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30352"/>
            <a:ext cx="5413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Same-domain, cross-task, target-history excluded</a:t>
            </a:r>
            <a:endParaRPr lang="en-US" sz="2300" dirty="0"/>
          </a:p>
        </p:txBody>
      </p:sp>
      <p:pic>
        <p:nvPicPr>
          <p:cNvPr id="5" name="Image 1" descr="同领域、跨任务、排除目标历史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30352"/>
            <a:ext cx="5559552" cy="475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352" y="987552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tasks, three agent seeds, five online systems per block, and one host-only Oracle.</a:t>
            </a:r>
            <a:endParaRPr lang="en-US" sz="1050" dirty="0"/>
          </a:p>
        </p:txBody>
      </p:sp>
      <p:pic>
        <p:nvPicPr>
          <p:cNvPr id="7" name="Image 2" descr="3 个任务 × 3 个 Agent 种子；每个区块 5 个在线系统，并配 1 个仅主机可见的 Oracle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87552"/>
            <a:ext cx="5559552" cy="3017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30352" y="1344168"/>
            <a:ext cx="10607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8368" y="1627632"/>
            <a:ext cx="3017520" cy="2057400"/>
          </a:xfrm>
          <a:prstGeom prst="roundRect">
            <a:avLst>
              <a:gd name="adj" fmla="val 5333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22960" y="1810512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96112" y="1819656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1000" dirty="0"/>
          </a:p>
        </p:txBody>
      </p:sp>
      <p:pic>
        <p:nvPicPr>
          <p:cNvPr id="12" name="Image 3" descr="图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496" y="1819656"/>
            <a:ext cx="658368" cy="2834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226771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Aerial Cactus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822960" y="263347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22960" y="2980944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from other image tasks</a:t>
            </a:r>
            <a:endParaRPr lang="en-US" sz="930" dirty="0"/>
          </a:p>
        </p:txBody>
      </p:sp>
      <p:pic>
        <p:nvPicPr>
          <p:cNvPr id="16" name="Image 4" descr="参考其他图像任务的方法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64408"/>
            <a:ext cx="2670048" cy="219456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114800" y="1627632"/>
            <a:ext cx="3017520" cy="2057400"/>
          </a:xfrm>
          <a:prstGeom prst="roundRect">
            <a:avLst>
              <a:gd name="adj" fmla="val 5333"/>
            </a:avLst>
          </a:prstGeom>
          <a:solidFill>
            <a:srgbClr val="F1ECFF"/>
          </a:solidFill>
          <a:ln w="1270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279392" y="1810512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352544" y="1819656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</a:t>
            </a:r>
            <a:endParaRPr lang="en-US" sz="1000" dirty="0"/>
          </a:p>
        </p:txBody>
      </p:sp>
      <p:pic>
        <p:nvPicPr>
          <p:cNvPr id="20" name="Image 5" descr="音频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1819656"/>
            <a:ext cx="658368" cy="2834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279392" y="226771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MLSP Birds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4279392" y="263347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279392" y="2980944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from other audio tasks</a:t>
            </a:r>
            <a:endParaRPr lang="en-US" sz="930" dirty="0"/>
          </a:p>
        </p:txBody>
      </p:sp>
      <p:pic>
        <p:nvPicPr>
          <p:cNvPr id="24" name="Image 6" descr="参考其他音频任务的方法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3264408"/>
            <a:ext cx="2670048" cy="219456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571232" y="1627632"/>
            <a:ext cx="3017520" cy="2057400"/>
          </a:xfrm>
          <a:prstGeom prst="roundRect">
            <a:avLst>
              <a:gd name="adj" fmla="val 5333"/>
            </a:avLst>
          </a:prstGeom>
          <a:solidFill>
            <a:srgbClr val="E6F6F3"/>
          </a:solidFill>
          <a:ln w="12700">
            <a:solidFill>
              <a:srgbClr val="E6F6F3">
                <a:alpha val="0"/>
              </a:srgbClr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7735824" y="1810512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7808976" y="1819656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TABULAR</a:t>
            </a:r>
            <a:endParaRPr lang="en-US" sz="1000" dirty="0"/>
          </a:p>
        </p:txBody>
      </p:sp>
      <p:pic>
        <p:nvPicPr>
          <p:cNvPr id="28" name="Image 7" descr="表格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1819656"/>
            <a:ext cx="658368" cy="28346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735824" y="226771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NYC Taxi</a:t>
            </a:r>
            <a:endParaRPr lang="en-US" sz="1700" dirty="0"/>
          </a:p>
        </p:txBody>
      </p:sp>
      <p:sp>
        <p:nvSpPr>
          <p:cNvPr id="30" name="Text 20"/>
          <p:cNvSpPr/>
          <p:nvPr/>
        </p:nvSpPr>
        <p:spPr>
          <a:xfrm>
            <a:off x="7735824" y="263347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(lower is better)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7735824" y="2980944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from other tabular tasks</a:t>
            </a:r>
            <a:endParaRPr lang="en-US" sz="930" dirty="0"/>
          </a:p>
        </p:txBody>
      </p:sp>
      <p:pic>
        <p:nvPicPr>
          <p:cNvPr id="32" name="Image 8" descr="参考其他表格任务的方法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5824" y="3264408"/>
            <a:ext cx="2670048" cy="219456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658368" y="3977640"/>
            <a:ext cx="10844784" cy="1417320"/>
          </a:xfrm>
          <a:prstGeom prst="roundRect">
            <a:avLst>
              <a:gd name="adj" fmla="val 774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932688" y="4315968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987552" y="435254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Memory</a:t>
            </a:r>
            <a:endParaRPr lang="en-US" sz="980" dirty="0"/>
          </a:p>
        </p:txBody>
      </p:sp>
      <p:pic>
        <p:nvPicPr>
          <p:cNvPr id="36" name="Image 9" descr="无记忆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2" y="4608576"/>
            <a:ext cx="1490472" cy="201168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2807208" y="4315968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2862072" y="435254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</a:t>
            </a:r>
            <a:endParaRPr lang="en-US" sz="980" dirty="0"/>
          </a:p>
        </p:txBody>
      </p:sp>
      <p:pic>
        <p:nvPicPr>
          <p:cNvPr id="39" name="Image 10" descr="扁平检索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2072" y="4608576"/>
            <a:ext cx="1490472" cy="201168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4681728" y="4315968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Text 28"/>
          <p:cNvSpPr/>
          <p:nvPr/>
        </p:nvSpPr>
        <p:spPr>
          <a:xfrm>
            <a:off x="4736592" y="435254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Bit</a:t>
            </a:r>
            <a:endParaRPr lang="en-US" sz="980" dirty="0"/>
          </a:p>
        </p:txBody>
      </p:sp>
      <p:pic>
        <p:nvPicPr>
          <p:cNvPr id="42" name="Image 11" descr="全局可信位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6592" y="4608576"/>
            <a:ext cx="1490472" cy="201168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6556248" y="4315968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Text 30"/>
          <p:cNvSpPr/>
          <p:nvPr/>
        </p:nvSpPr>
        <p:spPr>
          <a:xfrm>
            <a:off x="6611112" y="435254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</a:t>
            </a:r>
            <a:endParaRPr lang="en-US" sz="980" dirty="0"/>
          </a:p>
        </p:txBody>
      </p:sp>
      <p:pic>
        <p:nvPicPr>
          <p:cNvPr id="45" name="Image 12" descr="权限机制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1112" y="4608576"/>
            <a:ext cx="1490472" cy="201168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8430768" y="4315968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8485632" y="435254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</a:t>
            </a:r>
            <a:endParaRPr lang="en-US" sz="980" dirty="0"/>
          </a:p>
        </p:txBody>
      </p:sp>
      <p:pic>
        <p:nvPicPr>
          <p:cNvPr id="48" name="Image 13" descr="完整系统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5632" y="4608576"/>
            <a:ext cx="1490472" cy="201168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868680" y="5568696"/>
            <a:ext cx="6629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tasks × 3 seeds × 5 systems = 45 assigned online outcomes</a:t>
            </a:r>
            <a:endParaRPr lang="en-US" sz="1450" dirty="0"/>
          </a:p>
        </p:txBody>
      </p:sp>
      <p:pic>
        <p:nvPicPr>
          <p:cNvPr id="50" name="Image 14" descr="3 个任务 × 3 个种子 × 5 个系统 = 45 个在线结果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8680" y="5852160"/>
            <a:ext cx="6629400" cy="219456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7882128" y="5623560"/>
            <a:ext cx="1207008" cy="310896"/>
          </a:xfrm>
          <a:prstGeom prst="roundRect">
            <a:avLst>
              <a:gd name="adj" fmla="val 47059"/>
            </a:avLst>
          </a:prstGeom>
          <a:solidFill>
            <a:srgbClr val="FFF4E5"/>
          </a:solidFill>
          <a:ln w="1270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52" name="Text 35"/>
          <p:cNvSpPr/>
          <p:nvPr/>
        </p:nvSpPr>
        <p:spPr>
          <a:xfrm>
            <a:off x="7955280" y="5632704"/>
            <a:ext cx="106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Oracle</a:t>
            </a:r>
            <a:endParaRPr lang="en-US" sz="1000" dirty="0"/>
          </a:p>
        </p:txBody>
      </p:sp>
      <p:sp>
        <p:nvSpPr>
          <p:cNvPr id="53" name="Shape 36"/>
          <p:cNvSpPr/>
          <p:nvPr/>
        </p:nvSpPr>
        <p:spPr>
          <a:xfrm>
            <a:off x="9253728" y="5623560"/>
            <a:ext cx="1847088" cy="310896"/>
          </a:xfrm>
          <a:prstGeom prst="roundRect">
            <a:avLst>
              <a:gd name="adj" fmla="val 47059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54" name="Text 37"/>
          <p:cNvSpPr/>
          <p:nvPr/>
        </p:nvSpPr>
        <p:spPr>
          <a:xfrm>
            <a:off x="9326880" y="5632704"/>
            <a:ext cx="17007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target history</a:t>
            </a:r>
            <a:endParaRPr lang="en-US" sz="1000" dirty="0"/>
          </a:p>
        </p:txBody>
      </p:sp>
      <p:sp>
        <p:nvSpPr>
          <p:cNvPr id="55" name="Text 38"/>
          <p:cNvSpPr/>
          <p:nvPr/>
        </p:nvSpPr>
        <p:spPr>
          <a:xfrm>
            <a:off x="868680" y="611733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Same-domain provisional methods may generate candidates; source scores never transfer; target execution is mandatory.</a:t>
            </a:r>
            <a:endParaRPr lang="en-US" sz="880" dirty="0"/>
          </a:p>
        </p:txBody>
      </p:sp>
      <p:pic>
        <p:nvPicPr>
          <p:cNvPr id="56" name="Image 15" descr="同领域临时方法可生成候选；来源分数不可迁移；必须在目标任务重新执行。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8680" y="6318504"/>
            <a:ext cx="10241280" cy="137160"/>
          </a:xfrm>
          <a:prstGeom prst="rect">
            <a:avLst/>
          </a:prstGeom>
        </p:spPr>
      </p:pic>
      <p:sp>
        <p:nvSpPr>
          <p:cNvPr id="57" name="Shape 39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8" name="Text 40"/>
          <p:cNvSpPr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Admissibility | WP8 final evidence | 2026-07-24</a:t>
            </a:r>
            <a:endParaRPr lang="en-US" sz="850" dirty="0"/>
          </a:p>
        </p:txBody>
      </p:sp>
      <p:sp>
        <p:nvSpPr>
          <p:cNvPr id="59" name="Text 41"/>
          <p:cNvSpPr/>
          <p:nvPr/>
        </p:nvSpPr>
        <p:spPr>
          <a:xfrm>
            <a:off x="1110996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OUTCOME</a:t>
            </a:r>
            <a:endParaRPr lang="en-US" sz="1000" dirty="0"/>
          </a:p>
        </p:txBody>
      </p:sp>
      <p:pic>
        <p:nvPicPr>
          <p:cNvPr id="3" name="Image 0" descr="正式结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37744"/>
            <a:ext cx="169164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30352"/>
            <a:ext cx="5413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Memory completes more assignments than Full</a:t>
            </a:r>
            <a:endParaRPr lang="en-US" sz="2300" dirty="0"/>
          </a:p>
        </p:txBody>
      </p:sp>
      <p:pic>
        <p:nvPicPr>
          <p:cNvPr id="5" name="Image 1" descr="无记忆的完成数高于完整系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30352"/>
            <a:ext cx="5559552" cy="475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352" y="987552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failure is a formal outcome; the both-scored subset cannot replace intention-to-treat.</a:t>
            </a:r>
            <a:endParaRPr lang="en-US" sz="1050" dirty="0"/>
          </a:p>
        </p:txBody>
      </p:sp>
      <p:pic>
        <p:nvPicPr>
          <p:cNvPr id="7" name="Image 2" descr="每次失败都是正式结果；双方均有分数的子集不能替代意向性分析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87552"/>
            <a:ext cx="5559552" cy="3017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30352" y="1344168"/>
            <a:ext cx="10607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8368" y="1627632"/>
            <a:ext cx="6537960" cy="4315968"/>
          </a:xfrm>
          <a:prstGeom prst="roundRect">
            <a:avLst>
              <a:gd name="adj" fmla="val 254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32688" y="18470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Protocol-legal completion</a:t>
            </a:r>
            <a:endParaRPr lang="en-US" sz="1500" dirty="0"/>
          </a:p>
        </p:txBody>
      </p:sp>
      <p:pic>
        <p:nvPicPr>
          <p:cNvPr id="11" name="Image 3" descr="协议合法完成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847088"/>
            <a:ext cx="2377440" cy="31089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234440" y="5285232"/>
            <a:ext cx="5148072" cy="0"/>
          </a:xfrm>
          <a:prstGeom prst="line">
            <a:avLst/>
          </a:prstGeom>
          <a:noFill/>
          <a:ln w="12700">
            <a:solidFill>
              <a:srgbClr val="425466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1234440" y="2240280"/>
            <a:ext cx="0" cy="3044952"/>
          </a:xfrm>
          <a:prstGeom prst="line">
            <a:avLst/>
          </a:prstGeom>
          <a:noFill/>
          <a:ln w="12700">
            <a:solidFill>
              <a:srgbClr val="425466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1920240" y="4208272"/>
            <a:ext cx="1261872" cy="1076960"/>
          </a:xfrm>
          <a:prstGeom prst="roundRect">
            <a:avLst>
              <a:gd name="adj" fmla="val 5094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1920240" y="382422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9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1737360" y="544982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</a:t>
            </a:r>
            <a:endParaRPr lang="en-US" sz="1200" dirty="0"/>
          </a:p>
        </p:txBody>
      </p:sp>
      <p:pic>
        <p:nvPicPr>
          <p:cNvPr id="17" name="Image 4" descr="完整系统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5687568"/>
            <a:ext cx="1627632" cy="20116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160520" y="3669792"/>
            <a:ext cx="1261872" cy="1615440"/>
          </a:xfrm>
          <a:prstGeom prst="roundRect">
            <a:avLst>
              <a:gd name="adj" fmla="val 4348"/>
            </a:avLst>
          </a:prstGeom>
          <a:solidFill>
            <a:srgbClr val="16855B"/>
          </a:solidFill>
          <a:ln w="12700">
            <a:solidFill>
              <a:srgbClr val="16855B">
                <a:alpha val="0"/>
              </a:srgbClr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160520" y="328574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9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3977640" y="544982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Memory</a:t>
            </a:r>
            <a:endParaRPr lang="en-US" sz="1200" dirty="0"/>
          </a:p>
        </p:txBody>
      </p:sp>
      <p:pic>
        <p:nvPicPr>
          <p:cNvPr id="21" name="Image 5" descr="无记忆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5687568"/>
            <a:ext cx="1627632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94960" y="2359152"/>
            <a:ext cx="1353312" cy="384048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2/9 completion deficit</a:t>
            </a:r>
            <a:endParaRPr lang="en-US" sz="1150" dirty="0"/>
          </a:p>
        </p:txBody>
      </p:sp>
      <p:pic>
        <p:nvPicPr>
          <p:cNvPr id="23" name="Image 6" descr="完成数少 2/9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2770632"/>
            <a:ext cx="1353312" cy="219456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498080" y="162763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7607808" y="1709928"/>
            <a:ext cx="1655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2500" dirty="0"/>
          </a:p>
        </p:txBody>
      </p:sp>
      <p:sp>
        <p:nvSpPr>
          <p:cNvPr id="26" name="Text 17"/>
          <p:cNvSpPr/>
          <p:nvPr/>
        </p:nvSpPr>
        <p:spPr>
          <a:xfrm>
            <a:off x="7607808" y="2244852"/>
            <a:ext cx="165506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scored selected results</a:t>
            </a:r>
            <a:endParaRPr lang="en-US" sz="880" dirty="0"/>
          </a:p>
        </p:txBody>
      </p:sp>
      <p:pic>
        <p:nvPicPr>
          <p:cNvPr id="27" name="Image 7" descr="有分数的入选结果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2491740"/>
            <a:ext cx="1655064" cy="222199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19488" y="162763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9729216" y="1709928"/>
            <a:ext cx="1655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2500" dirty="0"/>
          </a:p>
        </p:txBody>
      </p:sp>
      <p:sp>
        <p:nvSpPr>
          <p:cNvPr id="30" name="Text 20"/>
          <p:cNvSpPr/>
          <p:nvPr/>
        </p:nvSpPr>
        <p:spPr>
          <a:xfrm>
            <a:off x="9729216" y="2244852"/>
            <a:ext cx="165506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 failures</a:t>
            </a:r>
            <a:endParaRPr lang="en-US" sz="880" dirty="0"/>
          </a:p>
        </p:txBody>
      </p:sp>
      <p:pic>
        <p:nvPicPr>
          <p:cNvPr id="31" name="Image 8" descr="保留的失败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9216" y="2491740"/>
            <a:ext cx="1655064" cy="222199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7498080" y="3127248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7607808" y="3209544"/>
            <a:ext cx="1655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500" dirty="0"/>
          </a:p>
        </p:txBody>
      </p:sp>
      <p:sp>
        <p:nvSpPr>
          <p:cNvPr id="34" name="Text 23"/>
          <p:cNvSpPr/>
          <p:nvPr/>
        </p:nvSpPr>
        <p:spPr>
          <a:xfrm>
            <a:off x="7607808" y="3744468"/>
            <a:ext cx="165506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imputations</a:t>
            </a:r>
            <a:endParaRPr lang="en-US" sz="880" dirty="0"/>
          </a:p>
        </p:txBody>
      </p:sp>
      <p:pic>
        <p:nvPicPr>
          <p:cNvPr id="35" name="Image 9" descr="分数插补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808" y="3991356"/>
            <a:ext cx="1655064" cy="222199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9619488" y="3127248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1ECFF"/>
          </a:solidFill>
          <a:ln w="1270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9729216" y="3209544"/>
            <a:ext cx="1655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500" dirty="0"/>
          </a:p>
        </p:txBody>
      </p:sp>
      <p:sp>
        <p:nvSpPr>
          <p:cNvPr id="38" name="Text 26"/>
          <p:cNvSpPr/>
          <p:nvPr/>
        </p:nvSpPr>
        <p:spPr>
          <a:xfrm>
            <a:off x="9729216" y="3744468"/>
            <a:ext cx="165506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post-assignment exclusions</a:t>
            </a:r>
            <a:endParaRPr lang="en-US" sz="880" dirty="0"/>
          </a:p>
        </p:txBody>
      </p:sp>
      <p:pic>
        <p:nvPicPr>
          <p:cNvPr id="39" name="Image 10" descr="分配后排除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9216" y="3991356"/>
            <a:ext cx="1655064" cy="222199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7498080" y="4617720"/>
            <a:ext cx="3995928" cy="1325880"/>
          </a:xfrm>
          <a:prstGeom prst="roundRect">
            <a:avLst>
              <a:gd name="adj" fmla="val 6897"/>
            </a:avLst>
          </a:prstGeom>
          <a:solidFill>
            <a:srgbClr val="FFF4E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7498080" y="461772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7699248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Intention-to-treat</a:t>
            </a:r>
            <a:endParaRPr lang="en-US" sz="1350" dirty="0"/>
          </a:p>
        </p:txBody>
      </p:sp>
      <p:pic>
        <p:nvPicPr>
          <p:cNvPr id="43" name="Image 11" descr="意向性分析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9216" y="4727448"/>
            <a:ext cx="1527048" cy="256032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7699248" y="5056632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45 assigned outcomes remain; authority denials and runtime failures are system behavior.</a:t>
            </a:r>
            <a:endParaRPr lang="en-US" sz="940" dirty="0"/>
          </a:p>
        </p:txBody>
      </p:sp>
      <p:pic>
        <p:nvPicPr>
          <p:cNvPr id="45" name="Image 12" descr="45 个已分配结果全部保留；权限拒绝与运行失败属于系统行为。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9248" y="5431536"/>
            <a:ext cx="3593592" cy="274320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Admissibility | WP8 final evidence | 2026-07-24</a:t>
            </a:r>
            <a:endParaRPr lang="en-US" sz="850" dirty="0"/>
          </a:p>
        </p:txBody>
      </p:sp>
      <p:sp>
        <p:nvSpPr>
          <p:cNvPr id="48" name="Text 33"/>
          <p:cNvSpPr/>
          <p:nvPr/>
        </p:nvSpPr>
        <p:spPr>
          <a:xfrm>
            <a:off x="1110996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STATISTICS</a:t>
            </a:r>
            <a:endParaRPr lang="en-US" sz="1000" dirty="0"/>
          </a:p>
        </p:txBody>
      </p:sp>
      <p:pic>
        <p:nvPicPr>
          <p:cNvPr id="3" name="Image 0" descr="统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37744"/>
            <a:ext cx="169164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30352"/>
            <a:ext cx="5413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four available pairs are positive — diagnostic only</a:t>
            </a:r>
            <a:endParaRPr lang="en-US" sz="2300" dirty="0"/>
          </a:p>
        </p:txBody>
      </p:sp>
      <p:pic>
        <p:nvPicPr>
          <p:cNvPr id="5" name="Image 1" descr="4 个可用配对均为正——仅作诊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30352"/>
            <a:ext cx="5559552" cy="475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352" y="987552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available-pair subset cannot replace the full intention-to-treat population.</a:t>
            </a:r>
            <a:endParaRPr lang="en-US" sz="1050" dirty="0"/>
          </a:p>
        </p:txBody>
      </p:sp>
      <p:pic>
        <p:nvPicPr>
          <p:cNvPr id="7" name="Image 2" descr="可用配对子集不能替代完整的意向性分析总体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87552"/>
            <a:ext cx="5559552" cy="3017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30352" y="1344168"/>
            <a:ext cx="10607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8368" y="1664208"/>
            <a:ext cx="5486400" cy="4498848"/>
          </a:xfrm>
          <a:prstGeom prst="roundRect">
            <a:avLst>
              <a:gd name="adj" fmla="val 2439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32688" y="1874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assigned Full ↔ No Memory pairs</a:t>
            </a:r>
            <a:endParaRPr lang="en-US" sz="1500" dirty="0"/>
          </a:p>
        </p:txBody>
      </p:sp>
      <p:pic>
        <p:nvPicPr>
          <p:cNvPr id="11" name="Image 3" descr="9 个已分配的完整系统 ↔ 无记忆配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176272"/>
            <a:ext cx="4480560" cy="24688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87552" y="2542032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987552" y="256946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987552" y="29443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+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1920240" y="2542032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920240" y="256946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1920240" y="29443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+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2852928" y="2542032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852928" y="256946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2852928" y="29443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+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3785616" y="2542032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785616" y="256946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3785616" y="29443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+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718304" y="2542032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718304" y="256946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4718304" y="29443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987552" y="347472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87552" y="350215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87552" y="38770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1920240" y="347472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920240" y="350215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1920240" y="38770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2852928" y="347472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852928" y="350215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2852928" y="38770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3785616" y="347472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785616" y="350215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2000" dirty="0"/>
          </a:p>
        </p:txBody>
      </p:sp>
      <p:sp>
        <p:nvSpPr>
          <p:cNvPr id="38" name="Text 32"/>
          <p:cNvSpPr/>
          <p:nvPr/>
        </p:nvSpPr>
        <p:spPr>
          <a:xfrm>
            <a:off x="3785616" y="38770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1005840" y="4572000"/>
            <a:ext cx="1097280" cy="310896"/>
          </a:xfrm>
          <a:prstGeom prst="roundRect">
            <a:avLst>
              <a:gd name="adj" fmla="val 47059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1078992" y="4581144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wins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2249424" y="457200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2322576" y="4581144"/>
            <a:ext cx="9052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ties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3438144" y="4572000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3511296" y="4581144"/>
            <a:ext cx="996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losses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727448" y="4572000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800600" y="4581144"/>
            <a:ext cx="996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unavailable</a:t>
            </a:r>
            <a:endParaRPr lang="en-US" sz="1000" dirty="0"/>
          </a:p>
        </p:txBody>
      </p:sp>
      <p:pic>
        <p:nvPicPr>
          <p:cNvPr id="47" name="Image 4" descr="4 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82896"/>
            <a:ext cx="1097280" cy="182880"/>
          </a:xfrm>
          <a:prstGeom prst="rect">
            <a:avLst/>
          </a:prstGeom>
        </p:spPr>
      </p:pic>
      <p:pic>
        <p:nvPicPr>
          <p:cNvPr id="48" name="Image 5" descr="0 平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424" y="4882896"/>
            <a:ext cx="1051560" cy="182880"/>
          </a:xfrm>
          <a:prstGeom prst="rect">
            <a:avLst/>
          </a:prstGeom>
        </p:spPr>
      </p:pic>
      <p:pic>
        <p:nvPicPr>
          <p:cNvPr id="49" name="Image 6" descr="0 负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4882896"/>
            <a:ext cx="1143000" cy="182880"/>
          </a:xfrm>
          <a:prstGeom prst="rect">
            <a:avLst/>
          </a:prstGeom>
        </p:spPr>
      </p:pic>
      <p:pic>
        <p:nvPicPr>
          <p:cNvPr id="50" name="Image 7" descr="5 个不可用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7448" y="4882896"/>
            <a:ext cx="1143000" cy="18288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32688" y="5148072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Aerial: +0.014373 (3 pairs) · Birds: +0.059794 (1 pair) · Taxi: 0 pairs</a:t>
            </a:r>
            <a:endParaRPr lang="en-US" sz="1100" dirty="0"/>
          </a:p>
        </p:txBody>
      </p:sp>
      <p:pic>
        <p:nvPicPr>
          <p:cNvPr id="52" name="Image 8" descr="图像 3 对｜音频 1 对｜表格 0 对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" y="5641848"/>
            <a:ext cx="4800600" cy="219456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6473952" y="1664208"/>
            <a:ext cx="2267712" cy="1170432"/>
          </a:xfrm>
          <a:prstGeom prst="roundRect">
            <a:avLst>
              <a:gd name="adj" fmla="val 7813"/>
            </a:avLst>
          </a:prstGeom>
          <a:solidFill>
            <a:srgbClr val="FFF4E5"/>
          </a:solidFill>
          <a:ln w="1270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6601968" y="1792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</a:t>
            </a:r>
            <a:endParaRPr lang="en-US" sz="1000" dirty="0"/>
          </a:p>
        </p:txBody>
      </p:sp>
      <p:sp>
        <p:nvSpPr>
          <p:cNvPr id="55" name="Text 44"/>
          <p:cNvSpPr/>
          <p:nvPr/>
        </p:nvSpPr>
        <p:spPr>
          <a:xfrm>
            <a:off x="6601968" y="2103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0.0625</a:t>
            </a:r>
            <a:endParaRPr lang="en-US" sz="2400" dirty="0"/>
          </a:p>
        </p:txBody>
      </p:sp>
      <p:sp>
        <p:nvSpPr>
          <p:cNvPr id="56" name="Shape 45"/>
          <p:cNvSpPr/>
          <p:nvPr/>
        </p:nvSpPr>
        <p:spPr>
          <a:xfrm>
            <a:off x="9025128" y="1664208"/>
            <a:ext cx="2267712" cy="1170432"/>
          </a:xfrm>
          <a:prstGeom prst="roundRect">
            <a:avLst>
              <a:gd name="adj" fmla="val 7813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9153144" y="1792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Holm p</a:t>
            </a:r>
            <a:endParaRPr lang="en-US" sz="1000" dirty="0"/>
          </a:p>
        </p:txBody>
      </p:sp>
      <p:sp>
        <p:nvSpPr>
          <p:cNvPr id="58" name="Text 47"/>
          <p:cNvSpPr/>
          <p:nvPr/>
        </p:nvSpPr>
        <p:spPr>
          <a:xfrm>
            <a:off x="9153144" y="2103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0.25</a:t>
            </a:r>
            <a:endParaRPr lang="en-US" sz="2400" dirty="0"/>
          </a:p>
        </p:txBody>
      </p:sp>
      <p:sp>
        <p:nvSpPr>
          <p:cNvPr id="59" name="Shape 48"/>
          <p:cNvSpPr/>
          <p:nvPr/>
        </p:nvSpPr>
        <p:spPr>
          <a:xfrm>
            <a:off x="6473952" y="3136392"/>
            <a:ext cx="2267712" cy="1170432"/>
          </a:xfrm>
          <a:prstGeom prst="roundRect">
            <a:avLst>
              <a:gd name="adj" fmla="val 7813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60" name="Text 49"/>
          <p:cNvSpPr/>
          <p:nvPr/>
        </p:nvSpPr>
        <p:spPr>
          <a:xfrm>
            <a:off x="6601968" y="3264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task-macro CI</a:t>
            </a:r>
            <a:endParaRPr lang="en-US" sz="1000" dirty="0"/>
          </a:p>
        </p:txBody>
      </p:sp>
      <p:sp>
        <p:nvSpPr>
          <p:cNvPr id="61" name="Text 50"/>
          <p:cNvSpPr/>
          <p:nvPr/>
        </p:nvSpPr>
        <p:spPr>
          <a:xfrm>
            <a:off x="6601968" y="35753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estimable</a:t>
            </a:r>
            <a:endParaRPr lang="en-US" sz="1700" dirty="0"/>
          </a:p>
        </p:txBody>
      </p:sp>
      <p:sp>
        <p:nvSpPr>
          <p:cNvPr id="62" name="Shape 51"/>
          <p:cNvSpPr/>
          <p:nvPr/>
        </p:nvSpPr>
        <p:spPr>
          <a:xfrm>
            <a:off x="9025128" y="3136392"/>
            <a:ext cx="2267712" cy="1170432"/>
          </a:xfrm>
          <a:prstGeom prst="roundRect">
            <a:avLst>
              <a:gd name="adj" fmla="val 7813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63" name="Text 52"/>
          <p:cNvSpPr/>
          <p:nvPr/>
        </p:nvSpPr>
        <p:spPr>
          <a:xfrm>
            <a:off x="9153144" y="3264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effects</a:t>
            </a:r>
            <a:endParaRPr lang="en-US" sz="1000" dirty="0"/>
          </a:p>
        </p:txBody>
      </p:sp>
      <p:sp>
        <p:nvSpPr>
          <p:cNvPr id="64" name="Text 53"/>
          <p:cNvSpPr/>
          <p:nvPr/>
        </p:nvSpPr>
        <p:spPr>
          <a:xfrm>
            <a:off x="9153144" y="35753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estimable</a:t>
            </a:r>
            <a:endParaRPr lang="en-US" sz="1700" dirty="0"/>
          </a:p>
        </p:txBody>
      </p:sp>
      <p:sp>
        <p:nvSpPr>
          <p:cNvPr id="65" name="Shape 54"/>
          <p:cNvSpPr/>
          <p:nvPr/>
        </p:nvSpPr>
        <p:spPr>
          <a:xfrm>
            <a:off x="6473952" y="4663440"/>
            <a:ext cx="4818888" cy="1481328"/>
          </a:xfrm>
          <a:prstGeom prst="roundRect">
            <a:avLst>
              <a:gd name="adj" fmla="val 7407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6729984" y="47731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effect gate: REJECTED</a:t>
            </a:r>
            <a:endParaRPr lang="en-US" sz="1700" dirty="0"/>
          </a:p>
        </p:txBody>
      </p:sp>
      <p:pic>
        <p:nvPicPr>
          <p:cNvPr id="67" name="Image 9" descr="冻结效应门禁：拒绝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9984" y="5074920"/>
            <a:ext cx="4297680" cy="25603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6729984" y="538581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utility = diagnostic only (not a trend)</a:t>
            </a:r>
            <a:endParaRPr lang="en-US" sz="1050" dirty="0"/>
          </a:p>
        </p:txBody>
      </p:sp>
      <p:pic>
        <p:nvPicPr>
          <p:cNvPr id="69" name="Image 10" descr="条件性效用仅作诊断，不得表述为“趋势”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5669280"/>
            <a:ext cx="4297680" cy="219456"/>
          </a:xfrm>
          <a:prstGeom prst="rect">
            <a:avLst/>
          </a:prstGeom>
        </p:spPr>
      </p:pic>
      <p:sp>
        <p:nvSpPr>
          <p:cNvPr id="70" name="Shape 57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71" name="Text 58"/>
          <p:cNvSpPr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Admissibility | WP8 final evidence | 2026-07-24</a:t>
            </a:r>
            <a:endParaRPr lang="en-US" sz="850" dirty="0"/>
          </a:p>
        </p:txBody>
      </p:sp>
      <p:sp>
        <p:nvSpPr>
          <p:cNvPr id="72" name="Text 59"/>
          <p:cNvSpPr/>
          <p:nvPr/>
        </p:nvSpPr>
        <p:spPr>
          <a:xfrm>
            <a:off x="1110996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LEDGER</a:t>
            </a:r>
            <a:endParaRPr lang="en-US" sz="1000" dirty="0"/>
          </a:p>
        </p:txBody>
      </p:sp>
      <p:pic>
        <p:nvPicPr>
          <p:cNvPr id="3" name="Image 0" descr="证据账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37744"/>
            <a:ext cx="169164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30352"/>
            <a:ext cx="5413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completion and scientific claims are orthogonal</a:t>
            </a:r>
            <a:endParaRPr lang="en-US" sz="2300" dirty="0"/>
          </a:p>
        </p:txBody>
      </p:sp>
      <p:pic>
        <p:nvPicPr>
          <p:cNvPr id="5" name="Image 1" descr="工程完成与科学主张相互独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30352"/>
            <a:ext cx="5559552" cy="475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352" y="987552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ledger preserves negative outcomes and prevents diagnostic evidence from escalating.</a:t>
            </a:r>
            <a:endParaRPr lang="en-US" sz="1050" dirty="0"/>
          </a:p>
        </p:txBody>
      </p:sp>
      <p:pic>
        <p:nvPicPr>
          <p:cNvPr id="7" name="Image 2" descr="账本保留负结果，并阻止诊断性证据越级升级为正式结论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87552"/>
            <a:ext cx="5559552" cy="3017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30352" y="1344168"/>
            <a:ext cx="10607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8368" y="1627632"/>
            <a:ext cx="1874520" cy="1115568"/>
          </a:xfrm>
          <a:prstGeom prst="roundRect">
            <a:avLst>
              <a:gd name="adj" fmla="val 8197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68096" y="1709928"/>
            <a:ext cx="1655064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500" dirty="0"/>
          </a:p>
        </p:txBody>
      </p:sp>
      <p:sp>
        <p:nvSpPr>
          <p:cNvPr id="11" name="Text 6"/>
          <p:cNvSpPr/>
          <p:nvPr/>
        </p:nvSpPr>
        <p:spPr>
          <a:xfrm>
            <a:off x="768096" y="2185416"/>
            <a:ext cx="1655064" cy="20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880" dirty="0"/>
          </a:p>
        </p:txBody>
      </p:sp>
      <p:pic>
        <p:nvPicPr>
          <p:cNvPr id="12" name="Image 3" descr="已支持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408530"/>
            <a:ext cx="1655064" cy="20080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788920" y="1627632"/>
            <a:ext cx="1874520" cy="1115568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898648" y="1709928"/>
            <a:ext cx="1655064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500" dirty="0"/>
          </a:p>
        </p:txBody>
      </p:sp>
      <p:sp>
        <p:nvSpPr>
          <p:cNvPr id="15" name="Text 9"/>
          <p:cNvSpPr/>
          <p:nvPr/>
        </p:nvSpPr>
        <p:spPr>
          <a:xfrm>
            <a:off x="2898648" y="2185416"/>
            <a:ext cx="1655064" cy="20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</a:t>
            </a:r>
            <a:endParaRPr lang="en-US" sz="880" dirty="0"/>
          </a:p>
        </p:txBody>
      </p:sp>
      <p:pic>
        <p:nvPicPr>
          <p:cNvPr id="16" name="Image 4" descr="仅诊断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8648" y="2408530"/>
            <a:ext cx="1655064" cy="20080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919472" y="1627632"/>
            <a:ext cx="1874520" cy="1115568"/>
          </a:xfrm>
          <a:prstGeom prst="roundRect">
            <a:avLst>
              <a:gd name="adj" fmla="val 8197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029200" y="1709928"/>
            <a:ext cx="1655064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500" dirty="0"/>
          </a:p>
        </p:txBody>
      </p:sp>
      <p:sp>
        <p:nvSpPr>
          <p:cNvPr id="19" name="Text 12"/>
          <p:cNvSpPr/>
          <p:nvPr/>
        </p:nvSpPr>
        <p:spPr>
          <a:xfrm>
            <a:off x="5029200" y="2185416"/>
            <a:ext cx="1655064" cy="20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</a:t>
            </a:r>
            <a:endParaRPr lang="en-US" sz="880" dirty="0"/>
          </a:p>
        </p:txBody>
      </p:sp>
      <p:pic>
        <p:nvPicPr>
          <p:cNvPr id="20" name="Image 5" descr="已拒绝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408530"/>
            <a:ext cx="1655064" cy="200802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050024" y="1627632"/>
            <a:ext cx="1874520" cy="1115568"/>
          </a:xfrm>
          <a:prstGeom prst="roundRect">
            <a:avLst>
              <a:gd name="adj" fmla="val 8197"/>
            </a:avLst>
          </a:prstGeom>
          <a:solidFill>
            <a:srgbClr val="F1ECFF"/>
          </a:solidFill>
          <a:ln w="1270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7159752" y="1709928"/>
            <a:ext cx="1655064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500" dirty="0"/>
          </a:p>
        </p:txBody>
      </p:sp>
      <p:sp>
        <p:nvSpPr>
          <p:cNvPr id="23" name="Text 15"/>
          <p:cNvSpPr/>
          <p:nvPr/>
        </p:nvSpPr>
        <p:spPr>
          <a:xfrm>
            <a:off x="7159752" y="2185416"/>
            <a:ext cx="1655064" cy="20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880" dirty="0"/>
          </a:p>
        </p:txBody>
      </p:sp>
      <p:pic>
        <p:nvPicPr>
          <p:cNvPr id="24" name="Image 6" descr="待证实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752" y="2408530"/>
            <a:ext cx="1655064" cy="200802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9235440" y="1627632"/>
            <a:ext cx="2258568" cy="1115568"/>
          </a:xfrm>
          <a:prstGeom prst="roundRect">
            <a:avLst>
              <a:gd name="adj" fmla="val 8197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9363456" y="176479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WP8</a:t>
            </a:r>
            <a:endParaRPr lang="en-US" sz="2400" dirty="0"/>
          </a:p>
        </p:txBody>
      </p:sp>
      <p:sp>
        <p:nvSpPr>
          <p:cNvPr id="27" name="Text 18"/>
          <p:cNvSpPr/>
          <p:nvPr/>
        </p:nvSpPr>
        <p:spPr>
          <a:xfrm>
            <a:off x="9363456" y="2176272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complete</a:t>
            </a:r>
            <a:endParaRPr lang="en-US" sz="1000" dirty="0"/>
          </a:p>
        </p:txBody>
      </p:sp>
      <p:pic>
        <p:nvPicPr>
          <p:cNvPr id="28" name="Image 7" descr="工程完成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456" y="2423160"/>
            <a:ext cx="2002536" cy="18288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658368" y="3108960"/>
            <a:ext cx="10844784" cy="420624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804672" y="31638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050" dirty="0"/>
          </a:p>
        </p:txBody>
      </p:sp>
      <p:sp>
        <p:nvSpPr>
          <p:cNvPr id="31" name="Text 21"/>
          <p:cNvSpPr/>
          <p:nvPr/>
        </p:nvSpPr>
        <p:spPr>
          <a:xfrm>
            <a:off x="1426464" y="312724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execution</a:t>
            </a:r>
            <a:endParaRPr lang="en-US" sz="880" dirty="0"/>
          </a:p>
        </p:txBody>
      </p:sp>
      <p:pic>
        <p:nvPicPr>
          <p:cNvPr id="32" name="Image 8" descr="正式执行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6624" y="3127248"/>
            <a:ext cx="1188720" cy="164592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041648" y="3163824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4114800" y="317296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5468112" y="3163824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outcomes + 9 Oracles traceable</a:t>
            </a:r>
            <a:endParaRPr lang="en-US" sz="1050" dirty="0"/>
          </a:p>
        </p:txBody>
      </p:sp>
      <p:sp>
        <p:nvSpPr>
          <p:cNvPr id="36" name="Shape 25"/>
          <p:cNvSpPr/>
          <p:nvPr/>
        </p:nvSpPr>
        <p:spPr>
          <a:xfrm>
            <a:off x="658368" y="3566160"/>
            <a:ext cx="10844784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804672" y="36210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1426464" y="358444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writeback</a:t>
            </a:r>
            <a:endParaRPr lang="en-US" sz="880" dirty="0"/>
          </a:p>
        </p:txBody>
      </p:sp>
      <p:pic>
        <p:nvPicPr>
          <p:cNvPr id="39" name="Image 9" descr="结果回写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6624" y="3584448"/>
            <a:ext cx="1188720" cy="164592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4041648" y="3621024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4114800" y="363016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5468112" y="3621024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22/22 success → Result Fact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658368" y="4023360"/>
            <a:ext cx="10844784" cy="420624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804672" y="40782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050" dirty="0"/>
          </a:p>
        </p:txBody>
      </p:sp>
      <p:sp>
        <p:nvSpPr>
          <p:cNvPr id="45" name="Text 33"/>
          <p:cNvSpPr/>
          <p:nvPr/>
        </p:nvSpPr>
        <p:spPr>
          <a:xfrm>
            <a:off x="1426464" y="404164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superiority</a:t>
            </a:r>
            <a:endParaRPr lang="en-US" sz="880" dirty="0"/>
          </a:p>
        </p:txBody>
      </p:sp>
      <p:pic>
        <p:nvPicPr>
          <p:cNvPr id="46" name="Image 10" descr="完整系统优越性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6624" y="4041648"/>
            <a:ext cx="1188720" cy="16459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4041648" y="4078224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4114800" y="408736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</a:t>
            </a:r>
            <a:endParaRPr lang="en-US" sz="1000" dirty="0"/>
          </a:p>
        </p:txBody>
      </p:sp>
      <p:sp>
        <p:nvSpPr>
          <p:cNvPr id="49" name="Text 36"/>
          <p:cNvSpPr/>
          <p:nvPr/>
        </p:nvSpPr>
        <p:spPr>
          <a:xfrm>
            <a:off x="5468112" y="4078224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Completion, coverage, multiplicity fail</a:t>
            </a:r>
            <a:endParaRPr lang="en-US" sz="1050" dirty="0"/>
          </a:p>
        </p:txBody>
      </p:sp>
      <p:sp>
        <p:nvSpPr>
          <p:cNvPr id="50" name="Shape 37"/>
          <p:cNvSpPr/>
          <p:nvPr/>
        </p:nvSpPr>
        <p:spPr>
          <a:xfrm>
            <a:off x="658368" y="4480560"/>
            <a:ext cx="10844784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804672" y="45354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050" dirty="0"/>
          </a:p>
        </p:txBody>
      </p:sp>
      <p:sp>
        <p:nvSpPr>
          <p:cNvPr id="52" name="Text 39"/>
          <p:cNvSpPr/>
          <p:nvPr/>
        </p:nvSpPr>
        <p:spPr>
          <a:xfrm>
            <a:off x="1426464" y="449884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utility</a:t>
            </a:r>
            <a:endParaRPr lang="en-US" sz="880" dirty="0"/>
          </a:p>
        </p:txBody>
      </p:sp>
      <p:pic>
        <p:nvPicPr>
          <p:cNvPr id="53" name="Image 11" descr="条件性效用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06624" y="4498848"/>
            <a:ext cx="1188720" cy="164592"/>
          </a:xfrm>
          <a:prstGeom prst="rect">
            <a:avLst/>
          </a:prstGeom>
        </p:spPr>
      </p:pic>
      <p:sp>
        <p:nvSpPr>
          <p:cNvPr id="54" name="Shape 40"/>
          <p:cNvSpPr/>
          <p:nvPr/>
        </p:nvSpPr>
        <p:spPr>
          <a:xfrm>
            <a:off x="4041648" y="4535424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FF4E5"/>
          </a:solidFill>
          <a:ln w="1270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55" name="Text 41"/>
          <p:cNvSpPr/>
          <p:nvPr/>
        </p:nvSpPr>
        <p:spPr>
          <a:xfrm>
            <a:off x="4114800" y="454456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</a:t>
            </a:r>
            <a:endParaRPr lang="en-US" sz="1000" dirty="0"/>
          </a:p>
        </p:txBody>
      </p:sp>
      <p:sp>
        <p:nvSpPr>
          <p:cNvPr id="56" name="Text 42"/>
          <p:cNvSpPr/>
          <p:nvPr/>
        </p:nvSpPr>
        <p:spPr>
          <a:xfrm>
            <a:off x="5468112" y="4535424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available pairs only</a:t>
            </a:r>
            <a:endParaRPr lang="en-US" sz="1050" dirty="0"/>
          </a:p>
        </p:txBody>
      </p:sp>
      <p:sp>
        <p:nvSpPr>
          <p:cNvPr id="57" name="Shape 43"/>
          <p:cNvSpPr/>
          <p:nvPr/>
        </p:nvSpPr>
        <p:spPr>
          <a:xfrm>
            <a:off x="658368" y="4937760"/>
            <a:ext cx="10844784" cy="420624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804672" y="49926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</a:t>
            </a:r>
            <a:endParaRPr lang="en-US" sz="1050" dirty="0"/>
          </a:p>
        </p:txBody>
      </p:sp>
      <p:sp>
        <p:nvSpPr>
          <p:cNvPr id="59" name="Text 45"/>
          <p:cNvSpPr/>
          <p:nvPr/>
        </p:nvSpPr>
        <p:spPr>
          <a:xfrm>
            <a:off x="1426464" y="495604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imputation</a:t>
            </a:r>
            <a:endParaRPr lang="en-US" sz="880" dirty="0"/>
          </a:p>
        </p:txBody>
      </p:sp>
      <p:pic>
        <p:nvPicPr>
          <p:cNvPr id="60" name="Image 12" descr="无插补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06624" y="4956048"/>
            <a:ext cx="1188720" cy="164592"/>
          </a:xfrm>
          <a:prstGeom prst="rect">
            <a:avLst/>
          </a:prstGeom>
        </p:spPr>
      </p:pic>
      <p:sp>
        <p:nvSpPr>
          <p:cNvPr id="61" name="Shape 46"/>
          <p:cNvSpPr/>
          <p:nvPr/>
        </p:nvSpPr>
        <p:spPr>
          <a:xfrm>
            <a:off x="4041648" y="4992624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62" name="Text 47"/>
          <p:cNvSpPr/>
          <p:nvPr/>
        </p:nvSpPr>
        <p:spPr>
          <a:xfrm>
            <a:off x="4114800" y="500176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63" name="Text 48"/>
          <p:cNvSpPr/>
          <p:nvPr/>
        </p:nvSpPr>
        <p:spPr>
          <a:xfrm>
            <a:off x="5468112" y="4992624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failures retained</a:t>
            </a:r>
            <a:endParaRPr lang="en-US" sz="1050" dirty="0"/>
          </a:p>
        </p:txBody>
      </p:sp>
      <p:sp>
        <p:nvSpPr>
          <p:cNvPr id="64" name="Shape 49"/>
          <p:cNvSpPr/>
          <p:nvPr/>
        </p:nvSpPr>
        <p:spPr>
          <a:xfrm>
            <a:off x="658368" y="5394960"/>
            <a:ext cx="10844784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804672" y="54498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C6</a:t>
            </a:r>
            <a:endParaRPr lang="en-US" sz="1050" dirty="0"/>
          </a:p>
        </p:txBody>
      </p:sp>
      <p:sp>
        <p:nvSpPr>
          <p:cNvPr id="66" name="Text 51"/>
          <p:cNvSpPr/>
          <p:nvPr/>
        </p:nvSpPr>
        <p:spPr>
          <a:xfrm>
            <a:off x="1426464" y="541324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causality</a:t>
            </a:r>
            <a:endParaRPr lang="en-US" sz="880" dirty="0"/>
          </a:p>
        </p:txBody>
      </p:sp>
      <p:pic>
        <p:nvPicPr>
          <p:cNvPr id="67" name="Image 13" descr="经验因果性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06624" y="5413248"/>
            <a:ext cx="1188720" cy="164592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4041648" y="5449824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1ECFF"/>
          </a:solidFill>
          <a:ln w="1270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69" name="Text 53"/>
          <p:cNvSpPr/>
          <p:nvPr/>
        </p:nvSpPr>
        <p:spPr>
          <a:xfrm>
            <a:off x="4114800" y="545896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1000" dirty="0"/>
          </a:p>
        </p:txBody>
      </p:sp>
      <p:sp>
        <p:nvSpPr>
          <p:cNvPr id="70" name="Text 54"/>
          <p:cNvSpPr/>
          <p:nvPr/>
        </p:nvSpPr>
        <p:spPr>
          <a:xfrm>
            <a:off x="5468112" y="5449824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gains lack L4</a:t>
            </a:r>
            <a:endParaRPr lang="en-US" sz="1050" dirty="0"/>
          </a:p>
        </p:txBody>
      </p:sp>
      <p:sp>
        <p:nvSpPr>
          <p:cNvPr id="71" name="Shape 55"/>
          <p:cNvSpPr/>
          <p:nvPr/>
        </p:nvSpPr>
        <p:spPr>
          <a:xfrm>
            <a:off x="658368" y="5852160"/>
            <a:ext cx="10844784" cy="420624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2" name="Text 56"/>
          <p:cNvSpPr/>
          <p:nvPr/>
        </p:nvSpPr>
        <p:spPr>
          <a:xfrm>
            <a:off x="804672" y="59070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C7</a:t>
            </a:r>
            <a:endParaRPr lang="en-US" sz="1050" dirty="0"/>
          </a:p>
        </p:txBody>
      </p:sp>
      <p:sp>
        <p:nvSpPr>
          <p:cNvPr id="73" name="Text 57"/>
          <p:cNvSpPr/>
          <p:nvPr/>
        </p:nvSpPr>
        <p:spPr>
          <a:xfrm>
            <a:off x="1426464" y="587044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kill gates</a:t>
            </a:r>
            <a:endParaRPr lang="en-US" sz="880" dirty="0"/>
          </a:p>
        </p:txBody>
      </p:sp>
      <p:pic>
        <p:nvPicPr>
          <p:cNvPr id="74" name="Image 14" descr="既有终止门禁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06624" y="5870448"/>
            <a:ext cx="1188720" cy="164592"/>
          </a:xfrm>
          <a:prstGeom prst="rect">
            <a:avLst/>
          </a:prstGeom>
        </p:spPr>
      </p:pic>
      <p:sp>
        <p:nvSpPr>
          <p:cNvPr id="75" name="Shape 58"/>
          <p:cNvSpPr/>
          <p:nvPr/>
        </p:nvSpPr>
        <p:spPr>
          <a:xfrm>
            <a:off x="4041648" y="5907024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76" name="Text 59"/>
          <p:cNvSpPr/>
          <p:nvPr/>
        </p:nvSpPr>
        <p:spPr>
          <a:xfrm>
            <a:off x="4114800" y="591616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77" name="Text 60"/>
          <p:cNvSpPr/>
          <p:nvPr/>
        </p:nvSpPr>
        <p:spPr>
          <a:xfrm>
            <a:off x="5468112" y="5907024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safety cannot override results</a:t>
            </a:r>
            <a:endParaRPr lang="en-US" sz="1050" dirty="0"/>
          </a:p>
        </p:txBody>
      </p:sp>
      <p:sp>
        <p:nvSpPr>
          <p:cNvPr id="78" name="Shape 61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79" name="Text 62"/>
          <p:cNvSpPr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Admissibility | WP8 final evidence | 2026-07-24</a:t>
            </a:r>
            <a:endParaRPr lang="en-US" sz="850" dirty="0"/>
          </a:p>
        </p:txBody>
      </p:sp>
      <p:sp>
        <p:nvSpPr>
          <p:cNvPr id="80" name="Text 63"/>
          <p:cNvSpPr/>
          <p:nvPr/>
        </p:nvSpPr>
        <p:spPr>
          <a:xfrm>
            <a:off x="1110996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CLOSEOUT</a:t>
            </a:r>
            <a:endParaRPr lang="en-US" sz="1000" dirty="0"/>
          </a:p>
        </p:txBody>
      </p:sp>
      <p:pic>
        <p:nvPicPr>
          <p:cNvPr id="3" name="Image 0" descr="工程收口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37744"/>
            <a:ext cx="169164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30352"/>
            <a:ext cx="5413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Stop Gate proves implementation and evidence integrity</a:t>
            </a:r>
            <a:endParaRPr lang="en-US" sz="2300" dirty="0"/>
          </a:p>
        </p:txBody>
      </p:sp>
      <p:pic>
        <p:nvPicPr>
          <p:cNvPr id="5" name="Image 1" descr="Stop Gate 证明实现与证据完整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30352"/>
            <a:ext cx="5559552" cy="475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352" y="987552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Tests, argv, environment, JUnit, source closure, and failure-to-fix chains are frozen.</a:t>
            </a:r>
            <a:endParaRPr lang="en-US" sz="1050" dirty="0"/>
          </a:p>
        </p:txBody>
      </p:sp>
      <p:pic>
        <p:nvPicPr>
          <p:cNvPr id="7" name="Image 2" descr="测试、argv、环境、JUnit、源码闭包及失败到修复链均已冻结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87552"/>
            <a:ext cx="5559552" cy="3017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30352" y="1344168"/>
            <a:ext cx="10607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8368" y="1627632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68096" y="1709928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1,454</a:t>
            </a:r>
            <a:endParaRPr lang="en-US" sz="2500" dirty="0"/>
          </a:p>
        </p:txBody>
      </p:sp>
      <p:sp>
        <p:nvSpPr>
          <p:cNvPr id="11" name="Text 6"/>
          <p:cNvSpPr/>
          <p:nvPr/>
        </p:nvSpPr>
        <p:spPr>
          <a:xfrm>
            <a:off x="768096" y="2244852"/>
            <a:ext cx="1810512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across 7 green runs</a:t>
            </a:r>
            <a:endParaRPr lang="en-US" sz="880" dirty="0"/>
          </a:p>
        </p:txBody>
      </p:sp>
      <p:pic>
        <p:nvPicPr>
          <p:cNvPr id="12" name="Image 3" descr="7 次绿色运行的测试总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491740"/>
            <a:ext cx="1810512" cy="222199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907792" y="1627632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E6F6F3"/>
          </a:solidFill>
          <a:ln w="12700">
            <a:solidFill>
              <a:srgbClr val="E6F6F3">
                <a:alpha val="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3017520" y="1709928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760</a:t>
            </a:r>
            <a:endParaRPr lang="en-US" sz="2500" dirty="0"/>
          </a:p>
        </p:txBody>
      </p:sp>
      <p:sp>
        <p:nvSpPr>
          <p:cNvPr id="15" name="Text 9"/>
          <p:cNvSpPr/>
          <p:nvPr/>
        </p:nvSpPr>
        <p:spPr>
          <a:xfrm>
            <a:off x="3017520" y="2244852"/>
            <a:ext cx="1810512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suite</a:t>
            </a:r>
            <a:endParaRPr lang="en-US" sz="880" dirty="0"/>
          </a:p>
        </p:txBody>
      </p:sp>
      <p:pic>
        <p:nvPicPr>
          <p:cNvPr id="16" name="Image 4" descr="完整测试套件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2491740"/>
            <a:ext cx="1810512" cy="222199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157216" y="1627632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266944" y="1709928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500" dirty="0"/>
          </a:p>
        </p:txBody>
      </p:sp>
      <p:sp>
        <p:nvSpPr>
          <p:cNvPr id="19" name="Text 12"/>
          <p:cNvSpPr/>
          <p:nvPr/>
        </p:nvSpPr>
        <p:spPr>
          <a:xfrm>
            <a:off x="5266944" y="2244852"/>
            <a:ext cx="1810512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/ error / skip</a:t>
            </a:r>
            <a:endParaRPr lang="en-US" sz="880" dirty="0"/>
          </a:p>
        </p:txBody>
      </p:sp>
      <p:pic>
        <p:nvPicPr>
          <p:cNvPr id="20" name="Image 5" descr="失败 / 错误 / 跳过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944" y="2491740"/>
            <a:ext cx="1810512" cy="222199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406640" y="1627632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F1ECFF"/>
          </a:solidFill>
          <a:ln w="1270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7516368" y="1709928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579</a:t>
            </a:r>
            <a:endParaRPr lang="en-US" sz="2500" dirty="0"/>
          </a:p>
        </p:txBody>
      </p:sp>
      <p:sp>
        <p:nvSpPr>
          <p:cNvPr id="23" name="Text 15"/>
          <p:cNvSpPr/>
          <p:nvPr/>
        </p:nvSpPr>
        <p:spPr>
          <a:xfrm>
            <a:off x="7516368" y="2244852"/>
            <a:ext cx="1810512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source/test dependencies</a:t>
            </a:r>
            <a:endParaRPr lang="en-US" sz="880" dirty="0"/>
          </a:p>
        </p:txBody>
      </p:sp>
      <p:pic>
        <p:nvPicPr>
          <p:cNvPr id="24" name="Image 6" descr="源码 / 测试依赖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68" y="2491740"/>
            <a:ext cx="1810512" cy="222199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9656064" y="1627632"/>
            <a:ext cx="1847088" cy="1234440"/>
          </a:xfrm>
          <a:prstGeom prst="roundRect">
            <a:avLst>
              <a:gd name="adj" fmla="val 7407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9765792" y="1709928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2500" dirty="0"/>
          </a:p>
        </p:txBody>
      </p:sp>
      <p:sp>
        <p:nvSpPr>
          <p:cNvPr id="27" name="Text 18"/>
          <p:cNvSpPr/>
          <p:nvPr/>
        </p:nvSpPr>
        <p:spPr>
          <a:xfrm>
            <a:off x="9765792" y="2244852"/>
            <a:ext cx="1627632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unchanged</a:t>
            </a:r>
            <a:endParaRPr lang="en-US" sz="880" dirty="0"/>
          </a:p>
        </p:txBody>
      </p:sp>
      <p:pic>
        <p:nvPicPr>
          <p:cNvPr id="28" name="Image 7" descr="源码未变化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792" y="2491740"/>
            <a:ext cx="1627632" cy="222199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13232" y="3310128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804672" y="34381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20</a:t>
            </a:r>
            <a:endParaRPr lang="en-US" sz="2000" dirty="0"/>
          </a:p>
        </p:txBody>
      </p:sp>
      <p:sp>
        <p:nvSpPr>
          <p:cNvPr id="31" name="Text 21"/>
          <p:cNvSpPr/>
          <p:nvPr/>
        </p:nvSpPr>
        <p:spPr>
          <a:xfrm>
            <a:off x="804672" y="37856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prerequisites</a:t>
            </a:r>
            <a:endParaRPr lang="en-US" sz="850" dirty="0"/>
          </a:p>
        </p:txBody>
      </p:sp>
      <p:pic>
        <p:nvPicPr>
          <p:cNvPr id="32" name="Image 8" descr="先决条件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3986784"/>
            <a:ext cx="1554480" cy="164592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2971800" y="3310128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3063240" y="34381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6</a:t>
            </a:r>
            <a:endParaRPr lang="en-US" sz="2000" dirty="0"/>
          </a:p>
        </p:txBody>
      </p:sp>
      <p:sp>
        <p:nvSpPr>
          <p:cNvPr id="35" name="Text 24"/>
          <p:cNvSpPr/>
          <p:nvPr/>
        </p:nvSpPr>
        <p:spPr>
          <a:xfrm>
            <a:off x="3063240" y="37856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kill gates</a:t>
            </a:r>
            <a:endParaRPr lang="en-US" sz="850" dirty="0"/>
          </a:p>
        </p:txBody>
      </p:sp>
      <p:pic>
        <p:nvPicPr>
          <p:cNvPr id="36" name="Image 9" descr="终止门禁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3240" y="3986784"/>
            <a:ext cx="1554480" cy="164592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5230368" y="3310128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5321808" y="34381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 / 47</a:t>
            </a:r>
            <a:endParaRPr lang="en-US" sz="2000" dirty="0"/>
          </a:p>
        </p:txBody>
      </p:sp>
      <p:sp>
        <p:nvSpPr>
          <p:cNvPr id="39" name="Text 27"/>
          <p:cNvSpPr/>
          <p:nvPr/>
        </p:nvSpPr>
        <p:spPr>
          <a:xfrm>
            <a:off x="5321808" y="37856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</a:t>
            </a:r>
            <a:endParaRPr lang="en-US" sz="850" dirty="0"/>
          </a:p>
        </p:txBody>
      </p:sp>
      <p:pic>
        <p:nvPicPr>
          <p:cNvPr id="40" name="Image 10" descr="验收项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1808" y="3986784"/>
            <a:ext cx="1554480" cy="164592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7488936" y="3310128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7580376" y="34381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43" name="Text 30"/>
          <p:cNvSpPr/>
          <p:nvPr/>
        </p:nvSpPr>
        <p:spPr>
          <a:xfrm>
            <a:off x="7580376" y="37856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failure→fix chains</a:t>
            </a:r>
            <a:endParaRPr lang="en-US" sz="850" dirty="0"/>
          </a:p>
        </p:txBody>
      </p:sp>
      <p:pic>
        <p:nvPicPr>
          <p:cNvPr id="44" name="Image 11" descr="失败到修复链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0376" y="3986784"/>
            <a:ext cx="1554480" cy="164592"/>
          </a:xfrm>
          <a:prstGeom prst="rect">
            <a:avLst/>
          </a:prstGeom>
        </p:spPr>
      </p:pic>
      <p:sp>
        <p:nvSpPr>
          <p:cNvPr id="45" name="Shape 31"/>
          <p:cNvSpPr/>
          <p:nvPr/>
        </p:nvSpPr>
        <p:spPr>
          <a:xfrm>
            <a:off x="9747504" y="3310128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6" name="Text 32"/>
          <p:cNvSpPr/>
          <p:nvPr/>
        </p:nvSpPr>
        <p:spPr>
          <a:xfrm>
            <a:off x="9838944" y="34381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0555</a:t>
            </a:r>
            <a:endParaRPr lang="en-US" sz="2000" dirty="0"/>
          </a:p>
        </p:txBody>
      </p:sp>
      <p:sp>
        <p:nvSpPr>
          <p:cNvPr id="47" name="Text 33"/>
          <p:cNvSpPr/>
          <p:nvPr/>
        </p:nvSpPr>
        <p:spPr>
          <a:xfrm>
            <a:off x="9838944" y="37856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roots</a:t>
            </a:r>
            <a:endParaRPr lang="en-US" sz="850" dirty="0"/>
          </a:p>
        </p:txBody>
      </p:sp>
      <p:pic>
        <p:nvPicPr>
          <p:cNvPr id="48" name="Image 12" descr="不可变根目录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38944" y="3986784"/>
            <a:ext cx="1554480" cy="164592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713232" y="4617720"/>
            <a:ext cx="10789920" cy="1261872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1060704" y="4901184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1" name="Text 36"/>
          <p:cNvSpPr/>
          <p:nvPr/>
        </p:nvSpPr>
        <p:spPr>
          <a:xfrm>
            <a:off x="1170432" y="49834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1200" dirty="0"/>
          </a:p>
        </p:txBody>
      </p:sp>
      <p:sp>
        <p:nvSpPr>
          <p:cNvPr id="52" name="Text 37"/>
          <p:cNvSpPr/>
          <p:nvPr/>
        </p:nvSpPr>
        <p:spPr>
          <a:xfrm>
            <a:off x="1609344" y="489204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880" dirty="0"/>
          </a:p>
        </p:txBody>
      </p:sp>
      <p:pic>
        <p:nvPicPr>
          <p:cNvPr id="53" name="Image 13" descr="部分结果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9344" y="5148072"/>
            <a:ext cx="1225296" cy="182880"/>
          </a:xfrm>
          <a:prstGeom prst="rect">
            <a:avLst/>
          </a:prstGeom>
        </p:spPr>
      </p:pic>
      <p:sp>
        <p:nvSpPr>
          <p:cNvPr id="54" name="Shape 38"/>
          <p:cNvSpPr/>
          <p:nvPr/>
        </p:nvSpPr>
        <p:spPr>
          <a:xfrm>
            <a:off x="2999232" y="5221224"/>
            <a:ext cx="466344" cy="0"/>
          </a:xfrm>
          <a:prstGeom prst="line">
            <a:avLst/>
          </a:prstGeom>
          <a:noFill/>
          <a:ln w="19050">
            <a:solidFill>
              <a:srgbClr val="6B7C93"/>
            </a:solidFill>
            <a:prstDash val="solid"/>
            <a:tailEnd type="triangle"/>
          </a:ln>
        </p:spPr>
      </p:sp>
      <p:sp>
        <p:nvSpPr>
          <p:cNvPr id="55" name="Shape 39"/>
          <p:cNvSpPr/>
          <p:nvPr/>
        </p:nvSpPr>
        <p:spPr>
          <a:xfrm>
            <a:off x="3602736" y="4901184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6" name="Text 40"/>
          <p:cNvSpPr/>
          <p:nvPr/>
        </p:nvSpPr>
        <p:spPr>
          <a:xfrm>
            <a:off x="3712464" y="49834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1200" dirty="0"/>
          </a:p>
        </p:txBody>
      </p:sp>
      <p:sp>
        <p:nvSpPr>
          <p:cNvPr id="57" name="Text 41"/>
          <p:cNvSpPr/>
          <p:nvPr/>
        </p:nvSpPr>
        <p:spPr>
          <a:xfrm>
            <a:off x="4151376" y="489204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changed</a:t>
            </a:r>
            <a:endParaRPr lang="en-US" sz="880" dirty="0"/>
          </a:p>
        </p:txBody>
      </p:sp>
      <p:pic>
        <p:nvPicPr>
          <p:cNvPr id="58" name="Image 14" descr="源码变化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51376" y="5148072"/>
            <a:ext cx="1225296" cy="182880"/>
          </a:xfrm>
          <a:prstGeom prst="rect">
            <a:avLst/>
          </a:prstGeom>
        </p:spPr>
      </p:pic>
      <p:sp>
        <p:nvSpPr>
          <p:cNvPr id="59" name="Shape 42"/>
          <p:cNvSpPr/>
          <p:nvPr/>
        </p:nvSpPr>
        <p:spPr>
          <a:xfrm>
            <a:off x="5541264" y="5221224"/>
            <a:ext cx="466344" cy="0"/>
          </a:xfrm>
          <a:prstGeom prst="line">
            <a:avLst/>
          </a:prstGeom>
          <a:noFill/>
          <a:ln w="19050">
            <a:solidFill>
              <a:srgbClr val="6B7C93"/>
            </a:solidFill>
            <a:prstDash val="solid"/>
            <a:tailEnd type="triangle"/>
          </a:ln>
        </p:spPr>
      </p:sp>
      <p:sp>
        <p:nvSpPr>
          <p:cNvPr id="60" name="Shape 43"/>
          <p:cNvSpPr/>
          <p:nvPr/>
        </p:nvSpPr>
        <p:spPr>
          <a:xfrm>
            <a:off x="6144768" y="4901184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1" name="Text 44"/>
          <p:cNvSpPr/>
          <p:nvPr/>
        </p:nvSpPr>
        <p:spPr>
          <a:xfrm>
            <a:off x="6254496" y="49834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</a:t>
            </a:r>
            <a:endParaRPr lang="en-US" sz="1200" dirty="0"/>
          </a:p>
        </p:txBody>
      </p:sp>
      <p:sp>
        <p:nvSpPr>
          <p:cNvPr id="62" name="Text 45"/>
          <p:cNvSpPr/>
          <p:nvPr/>
        </p:nvSpPr>
        <p:spPr>
          <a:xfrm>
            <a:off x="6693408" y="489204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concurrent edit</a:t>
            </a:r>
            <a:endParaRPr lang="en-US" sz="880" dirty="0"/>
          </a:p>
        </p:txBody>
      </p:sp>
      <p:pic>
        <p:nvPicPr>
          <p:cNvPr id="63" name="Image 15" descr="并发编辑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3408" y="5148072"/>
            <a:ext cx="1225296" cy="182880"/>
          </a:xfrm>
          <a:prstGeom prst="rect">
            <a:avLst/>
          </a:prstGeom>
        </p:spPr>
      </p:pic>
      <p:sp>
        <p:nvSpPr>
          <p:cNvPr id="64" name="Shape 46"/>
          <p:cNvSpPr/>
          <p:nvPr/>
        </p:nvSpPr>
        <p:spPr>
          <a:xfrm>
            <a:off x="8083296" y="5221224"/>
            <a:ext cx="466344" cy="0"/>
          </a:xfrm>
          <a:prstGeom prst="line">
            <a:avLst/>
          </a:prstGeom>
          <a:noFill/>
          <a:ln w="19050">
            <a:solidFill>
              <a:srgbClr val="6B7C93"/>
            </a:solidFill>
            <a:prstDash val="solid"/>
            <a:tailEnd type="triangle"/>
          </a:ln>
        </p:spPr>
      </p:sp>
      <p:sp>
        <p:nvSpPr>
          <p:cNvPr id="65" name="Shape 47"/>
          <p:cNvSpPr/>
          <p:nvPr/>
        </p:nvSpPr>
        <p:spPr>
          <a:xfrm>
            <a:off x="8686800" y="4901184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9F7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6" name="Text 48"/>
          <p:cNvSpPr/>
          <p:nvPr/>
        </p:nvSpPr>
        <p:spPr>
          <a:xfrm>
            <a:off x="8796528" y="49834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1200" dirty="0"/>
          </a:p>
        </p:txBody>
      </p:sp>
      <p:sp>
        <p:nvSpPr>
          <p:cNvPr id="67" name="Text 49"/>
          <p:cNvSpPr/>
          <p:nvPr/>
        </p:nvSpPr>
        <p:spPr>
          <a:xfrm>
            <a:off x="9235440" y="489204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</a:t>
            </a:r>
            <a:endParaRPr lang="en-US" sz="880" dirty="0"/>
          </a:p>
        </p:txBody>
      </p:sp>
      <p:pic>
        <p:nvPicPr>
          <p:cNvPr id="68" name="Image 16" descr="权威版本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35440" y="5148072"/>
            <a:ext cx="1225296" cy="182880"/>
          </a:xfrm>
          <a:prstGeom prst="rect">
            <a:avLst/>
          </a:prstGeom>
        </p:spPr>
      </p:pic>
      <p:sp>
        <p:nvSpPr>
          <p:cNvPr id="69" name="Text 50"/>
          <p:cNvSpPr/>
          <p:nvPr/>
        </p:nvSpPr>
        <p:spPr>
          <a:xfrm>
            <a:off x="804672" y="605332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Gate report hash: de73a72b… · independent verification: dcf2e62c…</a:t>
            </a:r>
            <a:endParaRPr lang="en-US" sz="1050" dirty="0"/>
          </a:p>
        </p:txBody>
      </p:sp>
      <p:sp>
        <p:nvSpPr>
          <p:cNvPr id="70" name="Shape 51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71" name="Text 52"/>
          <p:cNvSpPr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Admissibility | WP8 final evidence | 2026-07-24</a:t>
            </a:r>
            <a:endParaRPr lang="en-US" sz="850" dirty="0"/>
          </a:p>
        </p:txBody>
      </p:sp>
      <p:sp>
        <p:nvSpPr>
          <p:cNvPr id="72" name="Text 53"/>
          <p:cNvSpPr/>
          <p:nvPr/>
        </p:nvSpPr>
        <p:spPr>
          <a:xfrm>
            <a:off x="1110996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WRITEBACK SEMANTICS</a:t>
            </a:r>
            <a:endParaRPr lang="en-US" sz="1000" dirty="0"/>
          </a:p>
        </p:txBody>
      </p:sp>
      <p:pic>
        <p:nvPicPr>
          <p:cNvPr id="3" name="Image 0" descr="回写语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37744"/>
            <a:ext cx="169164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30352"/>
            <a:ext cx="5413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memory subject is the newly executed target node</a:t>
            </a:r>
            <a:endParaRPr lang="en-US" sz="2300" dirty="0"/>
          </a:p>
        </p:txBody>
      </p:sp>
      <p:pic>
        <p:nvPicPr>
          <p:cNvPr id="5" name="Image 1" descr="记忆主体是本次真实执行的目标节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30352"/>
            <a:ext cx="5559552" cy="475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352" y="987552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Actuation only authorizes claims about historical influence; it must not block independent success.</a:t>
            </a:r>
            <a:endParaRPr lang="en-US" sz="1050" dirty="0"/>
          </a:p>
        </p:txBody>
      </p:sp>
      <p:pic>
        <p:nvPicPr>
          <p:cNvPr id="7" name="Image 2" descr="Actuation 只授权“历史经验产生影响”的主张；不能阻止独立成功节点入库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87552"/>
            <a:ext cx="5559552" cy="3017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30352" y="1344168"/>
            <a:ext cx="10607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8368" y="1700784"/>
            <a:ext cx="3017520" cy="3429000"/>
          </a:xfrm>
          <a:prstGeom prst="roundRect">
            <a:avLst>
              <a:gd name="adj" fmla="val 4242"/>
            </a:avLst>
          </a:prstGeom>
          <a:solidFill>
            <a:srgbClr val="E9F7F0"/>
          </a:solidFill>
          <a:ln w="12700">
            <a:solidFill>
              <a:srgbClr val="E9F7F0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22960" y="1901952"/>
            <a:ext cx="420624" cy="420624"/>
          </a:xfrm>
          <a:prstGeom prst="ellipse">
            <a:avLst/>
          </a:prstGeom>
          <a:solidFill>
            <a:srgbClr val="1685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371600" y="184708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Fact</a:t>
            </a:r>
            <a:endParaRPr lang="en-US" sz="1500" dirty="0"/>
          </a:p>
        </p:txBody>
      </p:sp>
      <p:pic>
        <p:nvPicPr>
          <p:cNvPr id="12" name="Image 3" descr="结果事实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856232"/>
            <a:ext cx="841248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2688" y="2441448"/>
            <a:ext cx="246888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training code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host execution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protocol / evaluator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target metric</a:t>
            </a:r>
            <a:endParaRPr lang="en-US" sz="1150" dirty="0"/>
          </a:p>
        </p:txBody>
      </p:sp>
      <p:pic>
        <p:nvPicPr>
          <p:cNvPr id="14" name="Image 4" descr="本次训练代码 + 主机执行 + 协议 / 评估器 + 目标指标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374136"/>
            <a:ext cx="2468880" cy="67665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969264" y="4343400"/>
            <a:ext cx="2395728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1042416" y="4352544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8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PROMOTE_RESULT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4114800" y="1700784"/>
            <a:ext cx="3017520" cy="3429000"/>
          </a:xfrm>
          <a:prstGeom prst="roundRect">
            <a:avLst>
              <a:gd name="adj" fmla="val 4242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279392" y="1901952"/>
            <a:ext cx="420624" cy="420624"/>
          </a:xfrm>
          <a:prstGeom prst="ellipse">
            <a:avLst/>
          </a:prstGeom>
          <a:solidFill>
            <a:srgbClr val="2F6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4828032" y="184708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Edge</a:t>
            </a:r>
            <a:endParaRPr lang="en-US" sz="1500" dirty="0"/>
          </a:p>
        </p:txBody>
      </p:sp>
      <p:pic>
        <p:nvPicPr>
          <p:cNvPr id="20" name="Image 5" descr="采纳边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856232"/>
            <a:ext cx="841248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389120" y="2441448"/>
            <a:ext cx="246888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Claim to target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static actuation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runtime actuation</a:t>
            </a:r>
            <a:endParaRPr lang="en-US" sz="1150" dirty="0"/>
          </a:p>
        </p:txBody>
      </p:sp>
      <p:pic>
        <p:nvPicPr>
          <p:cNvPr id="22" name="Image 6" descr="历史主张 → 目标节点 + 静态生效证据 + 运行时生效证据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374136"/>
            <a:ext cx="2468880" cy="676656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4425696" y="4343400"/>
            <a:ext cx="2395728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4498848" y="4352544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PUBLISH_ADOPTION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7571232" y="1700784"/>
            <a:ext cx="3017520" cy="3429000"/>
          </a:xfrm>
          <a:prstGeom prst="roundRect">
            <a:avLst>
              <a:gd name="adj" fmla="val 4242"/>
            </a:avLst>
          </a:prstGeom>
          <a:solidFill>
            <a:srgbClr val="F1ECFF"/>
          </a:solidFill>
          <a:ln w="1270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7735824" y="1901952"/>
            <a:ext cx="420624" cy="420624"/>
          </a:xfrm>
          <a:prstGeom prst="ellipse">
            <a:avLst/>
          </a:prstGeom>
          <a:solidFill>
            <a:srgbClr val="6941C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27" name="Text 18"/>
          <p:cNvSpPr/>
          <p:nvPr/>
        </p:nvSpPr>
        <p:spPr>
          <a:xfrm>
            <a:off x="8284464" y="184708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Edge</a:t>
            </a:r>
            <a:endParaRPr lang="en-US" sz="1500" dirty="0"/>
          </a:p>
        </p:txBody>
      </p:sp>
      <p:pic>
        <p:nvPicPr>
          <p:cNvPr id="28" name="Image 7" descr="因果边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1472" y="1856232"/>
            <a:ext cx="841248" cy="2743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845552" y="2441448"/>
            <a:ext cx="246888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Adoption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memory-on/off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counterfactual change</a:t>
            </a:r>
            <a:endParaRPr lang="en-US" sz="1150" dirty="0"/>
          </a:p>
        </p:txBody>
      </p:sp>
      <p:pic>
        <p:nvPicPr>
          <p:cNvPr id="30" name="Image 8" descr="既有采纳关系 + 记忆开 / 关 + 反事实变化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5552" y="3374136"/>
            <a:ext cx="2468880" cy="676656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7882128" y="4343400"/>
            <a:ext cx="2395728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7955280" y="4352544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PUBLISH_CAUSAL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3730752" y="3310128"/>
            <a:ext cx="310896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34" name="Shape 23"/>
          <p:cNvSpPr/>
          <p:nvPr/>
        </p:nvSpPr>
        <p:spPr>
          <a:xfrm>
            <a:off x="7187184" y="3310128"/>
            <a:ext cx="310896" cy="0"/>
          </a:xfrm>
          <a:prstGeom prst="line">
            <a:avLst/>
          </a:prstGeom>
          <a:noFill/>
          <a:ln w="25400">
            <a:solidFill>
              <a:srgbClr val="6941C6"/>
            </a:solidFill>
            <a:prstDash val="solid"/>
            <a:tailEnd type="triangle"/>
          </a:ln>
        </p:spPr>
      </p:sp>
      <p:sp>
        <p:nvSpPr>
          <p:cNvPr id="35" name="Shape 24"/>
          <p:cNvSpPr/>
          <p:nvPr/>
        </p:nvSpPr>
        <p:spPr>
          <a:xfrm>
            <a:off x="658368" y="5504688"/>
            <a:ext cx="10844784" cy="621792"/>
          </a:xfrm>
          <a:prstGeom prst="roundRect">
            <a:avLst>
              <a:gd name="adj" fmla="val 14706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896112" y="5559552"/>
            <a:ext cx="10369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Cold-start success can publish a Result Fact without historical adoption: derived_from_refs = [].</a:t>
            </a:r>
            <a:endParaRPr lang="en-US" sz="1150" dirty="0"/>
          </a:p>
        </p:txBody>
      </p:sp>
      <p:pic>
        <p:nvPicPr>
          <p:cNvPr id="37" name="Image 9" descr="冷启动成功节点无需历史采纳关系即可发布结果事实：derived_from_refs = []。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112" y="5833872"/>
            <a:ext cx="10369296" cy="210312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Admissibility | WP8 final evidence | 2026-07-24</a:t>
            </a:r>
            <a:endParaRPr lang="en-US" sz="850" dirty="0"/>
          </a:p>
        </p:txBody>
      </p:sp>
      <p:sp>
        <p:nvSpPr>
          <p:cNvPr id="40" name="Text 28"/>
          <p:cNvSpPr/>
          <p:nvPr/>
        </p:nvSpPr>
        <p:spPr>
          <a:xfrm>
            <a:off x="1110996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AUDIT</a:t>
            </a:r>
            <a:endParaRPr lang="en-US" sz="1000" dirty="0"/>
          </a:p>
        </p:txBody>
      </p:sp>
      <p:pic>
        <p:nvPicPr>
          <p:cNvPr id="3" name="Image 0" descr="独立审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37744"/>
            <a:ext cx="169164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30352"/>
            <a:ext cx="5413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GLM-5.2: engineering complete, claim boundaries preserved</a:t>
            </a:r>
            <a:endParaRPr lang="en-US" sz="2300" dirty="0"/>
          </a:p>
        </p:txBody>
      </p:sp>
      <p:pic>
        <p:nvPicPr>
          <p:cNvPr id="5" name="Image 1" descr="GLM-5.2：工程完成，主张边界保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30352"/>
            <a:ext cx="5559552" cy="475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352" y="987552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Claudeagent MCP | strict read-only | 48 turns | 47 Read/Glob/Grep calls | 0 web/write</a:t>
            </a:r>
            <a:endParaRPr lang="en-US" sz="1050" dirty="0"/>
          </a:p>
        </p:txBody>
      </p:sp>
      <p:pic>
        <p:nvPicPr>
          <p:cNvPr id="7" name="Image 2" descr="Claudeagent MCP｜严格只读｜48 轮｜47 次 Read/Glob/Grep｜0 次网络或写入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87552"/>
            <a:ext cx="5559552" cy="3017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30352" y="1344168"/>
            <a:ext cx="10607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8368" y="1682496"/>
            <a:ext cx="3703320" cy="4498848"/>
          </a:xfrm>
          <a:prstGeom prst="roundRect">
            <a:avLst>
              <a:gd name="adj" fmla="val 3457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32688" y="203911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E3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PLAN_APPROVED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932688" y="263347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WP8 engineering completion</a:t>
            </a:r>
            <a:endParaRPr lang="en-US" sz="1150" dirty="0"/>
          </a:p>
        </p:txBody>
      </p:sp>
      <p:pic>
        <p:nvPicPr>
          <p:cNvPr id="12" name="Image 3" descr="WP8 工程完成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889504"/>
            <a:ext cx="3154680" cy="21945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097280" y="3182112"/>
            <a:ext cx="2825496" cy="0"/>
          </a:xfrm>
          <a:prstGeom prst="line">
            <a:avLst/>
          </a:prstGeom>
          <a:noFill/>
          <a:ln w="12700">
            <a:solidFill>
              <a:srgbClr val="537A9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051560" y="3429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920240" y="34290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glm-5.2[1m]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1051560" y="38587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920240" y="385876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b0d62720…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051560" y="42885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920240" y="42885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· Glob · Grep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051560" y="47183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Blocking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920240" y="471830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663440" y="1682496"/>
            <a:ext cx="3154680" cy="1243584"/>
          </a:xfrm>
          <a:prstGeom prst="roundRect">
            <a:avLst>
              <a:gd name="adj" fmla="val 7353"/>
            </a:avLst>
          </a:prstGeom>
          <a:solidFill>
            <a:srgbClr val="E9F7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663440" y="1682496"/>
            <a:ext cx="73152" cy="1243584"/>
          </a:xfrm>
          <a:prstGeom prst="rect">
            <a:avLst/>
          </a:prstGeom>
          <a:solidFill>
            <a:srgbClr val="16855B"/>
          </a:solidFill>
          <a:ln w="12700">
            <a:solidFill>
              <a:srgbClr val="16855B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64608" y="1773936"/>
            <a:ext cx="1640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Established</a:t>
            </a:r>
            <a:endParaRPr lang="en-US" sz="1150" dirty="0"/>
          </a:p>
        </p:txBody>
      </p:sp>
      <p:pic>
        <p:nvPicPr>
          <p:cNvPr id="25" name="Image 4" descr="已证实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154" y="1773936"/>
            <a:ext cx="1072591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64608" y="2066544"/>
            <a:ext cx="2843784" cy="377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Authority, visibility, writeback, replay, and immutable evidence operate under contract.</a:t>
            </a:r>
            <a:endParaRPr lang="en-US" sz="880" dirty="0"/>
          </a:p>
        </p:txBody>
      </p:sp>
      <p:pic>
        <p:nvPicPr>
          <p:cNvPr id="27" name="Image 5" descr="权限、可见性、回写、重放 和不可变证据均按契约运行。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404872"/>
            <a:ext cx="2843784" cy="346009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119872" y="1682496"/>
            <a:ext cx="3154680" cy="1243584"/>
          </a:xfrm>
          <a:prstGeom prst="roundRect">
            <a:avLst>
              <a:gd name="adj" fmla="val 7353"/>
            </a:avLst>
          </a:prstGeom>
          <a:solidFill>
            <a:srgbClr val="FDEC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119872" y="1682496"/>
            <a:ext cx="73152" cy="12435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321040" y="1773936"/>
            <a:ext cx="1640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established</a:t>
            </a:r>
            <a:endParaRPr lang="en-US" sz="1150" dirty="0"/>
          </a:p>
        </p:txBody>
      </p:sp>
      <p:pic>
        <p:nvPicPr>
          <p:cNvPr id="31" name="Image 6" descr="未证实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9586" y="1773936"/>
            <a:ext cx="1072591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321040" y="2066544"/>
            <a:ext cx="2843784" cy="377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memory outperforms No Memory; formal experience-level causality.</a:t>
            </a:r>
            <a:endParaRPr lang="en-US" sz="880" dirty="0"/>
          </a:p>
        </p:txBody>
      </p:sp>
      <p:pic>
        <p:nvPicPr>
          <p:cNvPr id="33" name="Image 7" descr="未证明完整记忆优于无记忆， 也未证明正式经验因果性。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2404872"/>
            <a:ext cx="2843784" cy="346009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4663440" y="3246120"/>
            <a:ext cx="3154680" cy="1335024"/>
          </a:xfrm>
          <a:prstGeom prst="roundRect">
            <a:avLst>
              <a:gd name="adj" fmla="val 6849"/>
            </a:avLst>
          </a:prstGeom>
          <a:solidFill>
            <a:srgbClr val="FFF4E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4663440" y="3246120"/>
            <a:ext cx="73152" cy="13350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4864608" y="3337560"/>
            <a:ext cx="1640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only</a:t>
            </a:r>
            <a:endParaRPr lang="en-US" sz="1150" dirty="0"/>
          </a:p>
        </p:txBody>
      </p:sp>
      <p:pic>
        <p:nvPicPr>
          <p:cNvPr id="37" name="Image 8" descr="仅作诊断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3154" y="3337560"/>
            <a:ext cx="1072591" cy="219456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864608" y="3630168"/>
            <a:ext cx="2843784" cy="4213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four both-scored pairs favor Full, but this is neither a trend nor a headline.</a:t>
            </a:r>
            <a:endParaRPr lang="en-US" sz="880" dirty="0"/>
          </a:p>
        </p:txBody>
      </p:sp>
      <p:pic>
        <p:nvPicPr>
          <p:cNvPr id="39" name="Image 9" descr="4 个双方均有分数的配对偏向完整系统， 但既非趋势也非主结论。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3968496"/>
            <a:ext cx="2843784" cy="386243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8119872" y="3246120"/>
            <a:ext cx="3154680" cy="1335024"/>
          </a:xfrm>
          <a:prstGeom prst="roundRect">
            <a:avLst>
              <a:gd name="adj" fmla="val 6849"/>
            </a:avLst>
          </a:prstGeom>
          <a:solidFill>
            <a:srgbClr val="F1EC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8119872" y="3246120"/>
            <a:ext cx="73152" cy="1335024"/>
          </a:xfrm>
          <a:prstGeom prst="rect">
            <a:avLst/>
          </a:prstGeom>
          <a:solidFill>
            <a:srgbClr val="6941C6"/>
          </a:solidFill>
          <a:ln w="12700">
            <a:solidFill>
              <a:srgbClr val="6941C6">
                <a:alpha val="0"/>
              </a:srgbClr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8321040" y="3337560"/>
            <a:ext cx="1640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scientific step</a:t>
            </a:r>
            <a:endParaRPr lang="en-US" sz="1150" dirty="0"/>
          </a:p>
        </p:txBody>
      </p:sp>
      <p:pic>
        <p:nvPicPr>
          <p:cNvPr id="43" name="Image 10" descr="下一步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9586" y="3337560"/>
            <a:ext cx="1072591" cy="219456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321040" y="3630168"/>
            <a:ext cx="2843784" cy="4213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same-domain tasks/seeds, reduce denials/runtime failures, and bind L2/L3/L4.</a:t>
            </a:r>
            <a:endParaRPr lang="en-US" sz="880" dirty="0"/>
          </a:p>
        </p:txBody>
      </p:sp>
      <p:pic>
        <p:nvPicPr>
          <p:cNvPr id="45" name="Image 11" descr="增加同领域任务与种子，减少拒绝和运行失败， 并绑定 L2/L3/L4。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0" y="3968496"/>
            <a:ext cx="2843784" cy="386243"/>
          </a:xfrm>
          <a:prstGeom prst="rect">
            <a:avLst/>
          </a:prstGeom>
        </p:spPr>
      </p:pic>
      <p:sp>
        <p:nvSpPr>
          <p:cNvPr id="46" name="Shape 32"/>
          <p:cNvSpPr/>
          <p:nvPr/>
        </p:nvSpPr>
        <p:spPr>
          <a:xfrm>
            <a:off x="4663440" y="4965192"/>
            <a:ext cx="6611112" cy="1216152"/>
          </a:xfrm>
          <a:prstGeom prst="roundRect">
            <a:avLst>
              <a:gd name="adj" fmla="val 9023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47" name="Text 33"/>
          <p:cNvSpPr/>
          <p:nvPr/>
        </p:nvSpPr>
        <p:spPr>
          <a:xfrm>
            <a:off x="4901184" y="5074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1050" dirty="0"/>
          </a:p>
        </p:txBody>
      </p:sp>
      <p:pic>
        <p:nvPicPr>
          <p:cNvPr id="48" name="Image 12" descr="结论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1184" y="5330952"/>
            <a:ext cx="1234440" cy="201168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6144768" y="5047488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governance is closed out; the hypothesis that memory improves training was not supported here.</a:t>
            </a:r>
            <a:endParaRPr lang="en-US" sz="1200" dirty="0"/>
          </a:p>
        </p:txBody>
      </p:sp>
      <p:pic>
        <p:nvPicPr>
          <p:cNvPr id="50" name="Image 13" descr="知识治理已经闭环；本次实验不支持“记忆提升训练表现”的假设。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4768" y="5504688"/>
            <a:ext cx="4828032" cy="329184"/>
          </a:xfrm>
          <a:prstGeom prst="rect">
            <a:avLst/>
          </a:prstGeom>
        </p:spPr>
      </p:pic>
      <p:sp>
        <p:nvSpPr>
          <p:cNvPr id="51" name="Shape 35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2" name="Text 36"/>
          <p:cNvSpPr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Admissibility | WP8 final evidence | 2026-07-24</a:t>
            </a:r>
            <a:endParaRPr lang="en-US" sz="850" dirty="0"/>
          </a:p>
        </p:txBody>
      </p:sp>
      <p:sp>
        <p:nvSpPr>
          <p:cNvPr id="53" name="Text 37"/>
          <p:cNvSpPr/>
          <p:nvPr/>
        </p:nvSpPr>
        <p:spPr>
          <a:xfrm>
            <a:off x="1110996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Nautilus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Admissibility - WP8 Final Evidence</dc:title>
  <dc:subject>WP8 final engineering and scientific evidence</dc:subject>
  <dc:creator>Nautilus Decision Admissibility</dc:creator>
  <cp:lastModifiedBy>Nautilus Decision Admissibility</cp:lastModifiedBy>
  <cp:revision>1</cp:revision>
  <dcterms:created xsi:type="dcterms:W3CDTF">2026-07-24T09:49:35Z</dcterms:created>
  <dcterms:modified xsi:type="dcterms:W3CDTF">2026-07-24T09:49:35Z</dcterms:modified>
</cp:coreProperties>
</file>